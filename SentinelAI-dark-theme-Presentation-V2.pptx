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Lora"/>
      <p:regular r:id="rId201314"/>
    </p:embeddedFont>
    <p:embeddedFont>
      <p:font typeface="Lora Medium"/>
      <p:regular r:id="rId201315"/>
    </p:embeddedFont>
    <p:embeddedFont>
      <p:font typeface="Lora SemiBold"/>
      <p:regular r:id="rId201316"/>
    </p:embeddedFont>
    <p:embeddedFont>
      <p:font typeface="Lora Bold"/>
      <p:regular r:id="rId201317"/>
    </p:embeddedFont>
    <p:embeddedFont>
      <p:font typeface="Source Sans 3 ExtraLight"/>
      <p:regular r:id="rId201318"/>
    </p:embeddedFont>
    <p:embeddedFont>
      <p:font typeface="Source Sans 3 Light"/>
      <p:regular r:id="rId201319"/>
    </p:embeddedFont>
    <p:embeddedFont>
      <p:font typeface="Source Sans 3"/>
      <p:regular r:id="rId201320"/>
    </p:embeddedFont>
    <p:embeddedFont>
      <p:font typeface="Source Sans 3 Medium"/>
      <p:regular r:id="rId201321"/>
    </p:embeddedFont>
    <p:embeddedFont>
      <p:font typeface="Source Sans 3 SemiBold"/>
      <p:regular r:id="rId201322"/>
    </p:embeddedFont>
    <p:embeddedFont>
      <p:font typeface="Source Sans 3 Bold"/>
      <p:regular r:id="rId201323"/>
    </p:embeddedFont>
    <p:embeddedFont>
      <p:font typeface="Source Sans 3 ExtraBold"/>
      <p:regular r:id="rId201324"/>
    </p:embeddedFont>
    <p:embeddedFont>
      <p:font typeface="Source Sans 3 Black"/>
      <p:regular r:id="rId2013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1.png"/><Relationship Id="rId4" Type="http://schemas.openxmlformats.org/officeDocument/2006/relationships/image" Target="../media/image-5-2.sv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jpeg"/><Relationship Id="rId4" Type="http://schemas.openxmlformats.org/officeDocument/2006/relationships/image" Target="../media/image-7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1682651"/>
            <a:ext cx="4667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SentinelAI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23577" y="2347020"/>
            <a:ext cx="4667845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 AI-assisted incident investigation platform that combines log analysis, live observability queries, and engineering context to help teams understand incidents faster and produce structured RCA output.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23577" y="3233440"/>
            <a:ext cx="1465213" cy="227335"/>
          </a:xfrm>
          <a:prstGeom prst="roundRect">
            <a:avLst>
              <a:gd name="adj" fmla="val 7897"/>
            </a:avLst>
          </a:prstGeom>
          <a:solidFill>
            <a:srgbClr val="49042A"/>
          </a:solidFill>
          <a:ln/>
        </p:spPr>
      </p:sp>
      <p:sp>
        <p:nvSpPr>
          <p:cNvPr id="6" name="Text 3"/>
          <p:cNvSpPr/>
          <p:nvPr/>
        </p:nvSpPr>
        <p:spPr>
          <a:xfrm>
            <a:off x="613321" y="3278312"/>
            <a:ext cx="1742926" cy="137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INCIDENT INVESTIGATION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063576" y="3233440"/>
            <a:ext cx="821457" cy="227335"/>
          </a:xfrm>
          <a:prstGeom prst="roundRect">
            <a:avLst>
              <a:gd name="adj" fmla="val 7897"/>
            </a:avLst>
          </a:prstGeom>
          <a:noFill/>
          <a:ln w="4763">
            <a:solidFill>
              <a:srgbClr val="F98AC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153320" y="3278312"/>
            <a:ext cx="1099170" cy="137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AI-POWERED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959819" y="3233440"/>
            <a:ext cx="1083766" cy="227335"/>
          </a:xfrm>
          <a:prstGeom prst="roundRect">
            <a:avLst>
              <a:gd name="adj" fmla="val 7897"/>
            </a:avLst>
          </a:prstGeom>
          <a:noFill/>
          <a:ln w="4763">
            <a:solidFill>
              <a:srgbClr val="F98AC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49563" y="3278312"/>
            <a:ext cx="1361480" cy="137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RCA AUTOMATION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13072"/>
            <a:ext cx="809684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Architecture at a Glance</a:t>
            </a:r>
            <a:endParaRPr lang="en-US" sz="1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731118"/>
            <a:ext cx="3957191" cy="39571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7994" y="2449190"/>
            <a:ext cx="3957191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Four Runnable Parts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4667994" y="2596530"/>
            <a:ext cx="3957191" cy="398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UI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React interface for RCA and ELK investigation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Core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Spring Boot orchestration for RCA, log ingestion, and Elasticsearch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AI Engine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Python FastAPI routing to Groq, Ollama, HuggingFace, or OpenAI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Knowledge Service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Spring Boot microservice indexing GitHub, Jira, Confluence, and Jenkins</a:t>
            </a:r>
            <a:endParaRPr lang="en-US" sz="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465981"/>
            <a:ext cx="4667845" cy="419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Log RCA Workflow</a:t>
            </a:r>
            <a:endParaRPr lang="en-US" sz="26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577" y="1089199"/>
            <a:ext cx="712961" cy="8555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801419" y="1231776"/>
            <a:ext cx="3819004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Input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4801419" y="1522884"/>
            <a:ext cx="3819004" cy="222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Paste log text or upload a file from the UI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577" y="1944737"/>
            <a:ext cx="712961" cy="85553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801419" y="2087314"/>
            <a:ext cx="3819004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Process</a:t>
            </a:r>
            <a:endParaRPr lang="en-US" sz="1300" dirty="0"/>
          </a:p>
        </p:txBody>
      </p:sp>
      <p:sp>
        <p:nvSpPr>
          <p:cNvPr id="9" name="Text 4"/>
          <p:cNvSpPr/>
          <p:nvPr/>
        </p:nvSpPr>
        <p:spPr>
          <a:xfrm>
            <a:off x="4801419" y="2378422"/>
            <a:ext cx="3819004" cy="222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Send content to Core via the RCA API</a:t>
            </a:r>
            <a:endParaRPr lang="en-US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2577" y="2800276"/>
            <a:ext cx="712961" cy="102170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801419" y="2942853"/>
            <a:ext cx="3819004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Output</a:t>
            </a:r>
            <a:endParaRPr lang="en-US" sz="1300" dirty="0"/>
          </a:p>
        </p:txBody>
      </p:sp>
      <p:sp>
        <p:nvSpPr>
          <p:cNvPr id="12" name="Text 6"/>
          <p:cNvSpPr/>
          <p:nvPr/>
        </p:nvSpPr>
        <p:spPr>
          <a:xfrm>
            <a:off x="4801419" y="3233961"/>
            <a:ext cx="3819004" cy="445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Structured RCA with issue, root cause, impacted service, and recommended fix</a:t>
            </a:r>
            <a:endParaRPr lang="en-US" sz="11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2577" y="3821981"/>
            <a:ext cx="712961" cy="85553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801419" y="3964558"/>
            <a:ext cx="3819004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Enrich</a:t>
            </a:r>
            <a:endParaRPr lang="en-US" sz="1300" dirty="0"/>
          </a:p>
        </p:txBody>
      </p:sp>
      <p:sp>
        <p:nvSpPr>
          <p:cNvPr id="15" name="Text 8"/>
          <p:cNvSpPr/>
          <p:nvPr/>
        </p:nvSpPr>
        <p:spPr>
          <a:xfrm>
            <a:off x="4801419" y="4255666"/>
            <a:ext cx="3819004" cy="222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Optionally add engineering context from the Knowledge Service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26244"/>
            <a:ext cx="8096845" cy="391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Live ELK Investigation</a:t>
            </a:r>
            <a:endParaRPr lang="en-US" sz="2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397719"/>
            <a:ext cx="5149155" cy="29178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02536" y="1114723"/>
            <a:ext cx="262257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002536" y="1429271"/>
            <a:ext cx="2622575" cy="1493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26000"/>
              </a:lnSpc>
              <a:buSzPct val="100000"/>
              <a:buChar char="•"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Query Elasticsearch directly from the UI using service, severity, and timeframe</a:t>
            </a:r>
            <a:endParaRPr lang="en-US" sz="1000" dirty="0"/>
          </a:p>
          <a:p>
            <a:pPr algn="l" marL="203200" indent="-203200">
              <a:lnSpc>
                <a:spcPct val="126000"/>
              </a:lnSpc>
              <a:buSzPct val="100000"/>
              <a:buChar char="•"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Retrieve recent logs, summarize them, and produce an AI-generated investigation result</a:t>
            </a:r>
            <a:endParaRPr lang="en-US" sz="1000" dirty="0"/>
          </a:p>
          <a:p>
            <a:pPr algn="l" marL="203200" indent="-203200">
              <a:lnSpc>
                <a:spcPct val="126000"/>
              </a:lnSpc>
              <a:buSzPct val="100000"/>
              <a:buChar char="•"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Return suspicious log lines along with the likely root cause and recommended action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002536" y="3056409"/>
            <a:ext cx="2622575" cy="1527274"/>
          </a:xfrm>
          <a:prstGeom prst="roundRect">
            <a:avLst>
              <a:gd name="adj" fmla="val 1309"/>
            </a:avLst>
          </a:prstGeom>
          <a:solidFill>
            <a:srgbClr val="790645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737" y="3249141"/>
            <a:ext cx="166539" cy="13320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35477" y="3196456"/>
            <a:ext cx="2056433" cy="1247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ELK investigation is controlled through </a:t>
            </a:r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FFFFF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sentinelai.elk.enabled</a:t>
            </a:r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FFFFF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sentinelai.elk.url</a:t>
            </a:r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FFFFF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sentinelai.elk.index</a:t>
            </a:r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and </a:t>
            </a:r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FFFFF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sentinelai.elk.max-log-results</a:t>
            </a:r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configuration settings.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248817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Semantic Retrieval &amp; Incident Memory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577" y="1988046"/>
            <a:ext cx="3973637" cy="11257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8400" y="2156668"/>
            <a:ext cx="356019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Store Incidents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68400" y="2466380"/>
            <a:ext cx="3560192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Upload incidents and optionally create embeddings for semantic retrieval</a:t>
            </a:r>
            <a:endParaRPr lang="en-US" sz="11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6786" y="1988046"/>
            <a:ext cx="3973637" cy="112573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891608" y="2156668"/>
            <a:ext cx="356019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Natural-Language Search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891608" y="2466380"/>
            <a:ext cx="3560192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Search stored incidents using natural-language queries when embeddings are enabled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523577" y="3282032"/>
            <a:ext cx="8096845" cy="612577"/>
          </a:xfrm>
          <a:prstGeom prst="roundRect">
            <a:avLst>
              <a:gd name="adj" fmla="val 3664"/>
            </a:avLst>
          </a:prstGeom>
          <a:solidFill>
            <a:srgbClr val="790645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150" y="3499991"/>
            <a:ext cx="187003" cy="14957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09724" y="3468960"/>
            <a:ext cx="7918326" cy="253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Postgres/pgvector is required for embedding storage — configured via 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postgres-docker-compose.yml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491654"/>
            <a:ext cx="4667845" cy="742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Engineering Knowledge Enrichment</a:t>
            </a:r>
            <a:endParaRPr lang="en-US" sz="2300" dirty="0"/>
          </a:p>
        </p:txBody>
      </p:sp>
      <p:sp>
        <p:nvSpPr>
          <p:cNvPr id="4" name="Shape 1"/>
          <p:cNvSpPr/>
          <p:nvPr/>
        </p:nvSpPr>
        <p:spPr>
          <a:xfrm>
            <a:off x="523577" y="1394073"/>
            <a:ext cx="4667845" cy="688032"/>
          </a:xfrm>
          <a:prstGeom prst="roundRect">
            <a:avLst>
              <a:gd name="adj" fmla="val 2752"/>
            </a:avLst>
          </a:prstGeom>
          <a:solidFill>
            <a:srgbClr val="444752"/>
          </a:solidFill>
          <a:ln/>
        </p:spPr>
      </p:sp>
      <p:sp>
        <p:nvSpPr>
          <p:cNvPr id="5" name="Text 2"/>
          <p:cNvSpPr/>
          <p:nvPr/>
        </p:nvSpPr>
        <p:spPr>
          <a:xfrm>
            <a:off x="649784" y="1520279"/>
            <a:ext cx="4415433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Source Sync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49784" y="1769790"/>
            <a:ext cx="4415433" cy="18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Sync metadata from GitHub, Jira, Confluence, and Jenkins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23577" y="2188592"/>
            <a:ext cx="4667845" cy="688032"/>
          </a:xfrm>
          <a:prstGeom prst="roundRect">
            <a:avLst>
              <a:gd name="adj" fmla="val 2752"/>
            </a:avLst>
          </a:prstGeom>
          <a:solidFill>
            <a:srgbClr val="444752"/>
          </a:solidFill>
          <a:ln/>
        </p:spPr>
      </p:sp>
      <p:sp>
        <p:nvSpPr>
          <p:cNvPr id="8" name="Text 5"/>
          <p:cNvSpPr/>
          <p:nvPr/>
        </p:nvSpPr>
        <p:spPr>
          <a:xfrm>
            <a:off x="649784" y="2314798"/>
            <a:ext cx="4415433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Webhook Ingestion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49784" y="2564309"/>
            <a:ext cx="4415433" cy="18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Ingest real-time webhook events from those systems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23577" y="2983111"/>
            <a:ext cx="4667845" cy="688032"/>
          </a:xfrm>
          <a:prstGeom prst="roundRect">
            <a:avLst>
              <a:gd name="adj" fmla="val 2752"/>
            </a:avLst>
          </a:prstGeom>
          <a:solidFill>
            <a:srgbClr val="444752"/>
          </a:solidFill>
          <a:ln/>
        </p:spPr>
      </p:sp>
      <p:sp>
        <p:nvSpPr>
          <p:cNvPr id="11" name="Text 8"/>
          <p:cNvSpPr/>
          <p:nvPr/>
        </p:nvSpPr>
        <p:spPr>
          <a:xfrm>
            <a:off x="649784" y="3109317"/>
            <a:ext cx="4415433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Context APIs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49784" y="3358828"/>
            <a:ext cx="4415433" cy="18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Expose timeline, relationship, repository, deployment, release, and Jira search APIs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23577" y="3777630"/>
            <a:ext cx="4667845" cy="874142"/>
          </a:xfrm>
          <a:prstGeom prst="roundRect">
            <a:avLst>
              <a:gd name="adj" fmla="val 2166"/>
            </a:avLst>
          </a:prstGeom>
          <a:solidFill>
            <a:srgbClr val="444752"/>
          </a:solidFill>
          <a:ln/>
        </p:spPr>
      </p:sp>
      <p:sp>
        <p:nvSpPr>
          <p:cNvPr id="14" name="Text 11"/>
          <p:cNvSpPr/>
          <p:nvPr/>
        </p:nvSpPr>
        <p:spPr>
          <a:xfrm>
            <a:off x="649784" y="3903836"/>
            <a:ext cx="4415433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Normalized Index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49784" y="4153346"/>
            <a:ext cx="4415433" cy="3722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Build a normalized engineering knowledge index without performing AI reasoning itself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510406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Main Components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249635"/>
            <a:ext cx="828898" cy="5122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577" y="1948904"/>
            <a:ext cx="1883941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sentinelai-ui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23577" y="2258616"/>
            <a:ext cx="1883941" cy="1196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Two main screens: Log RCA and ELK Investigation. Calls Core endpoints and displays structured RCA output and engineering context evidence.</a:t>
            </a:r>
            <a:endParaRPr lang="en-US" sz="11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521" y="1249635"/>
            <a:ext cx="828898" cy="51226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94521" y="1948904"/>
            <a:ext cx="1883941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SentinelAI-Core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2594521" y="2258616"/>
            <a:ext cx="1883941" cy="1436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Orchestrates RCA generation and live investigation flows. Integrates with Elasticsearch and the AI Engine. Exposes REST endpoints for logs, RCA, and ELK investigation.</a:t>
            </a:r>
            <a:endParaRPr lang="en-US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5464" y="1249635"/>
            <a:ext cx="828898" cy="51226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65464" y="1948904"/>
            <a:ext cx="1883941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SentinelAI-Engine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665464" y="2258616"/>
            <a:ext cx="1883941" cy="1436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Routes analysis requests to the configured provider. Supports Groq, Ollama, HuggingFace, and OpenAI-compatible providers. Returns structured RCA JSON to Core.</a:t>
            </a:r>
            <a:endParaRPr lang="en-US" sz="11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6407" y="1249635"/>
            <a:ext cx="828898" cy="51226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36407" y="1948904"/>
            <a:ext cx="1884015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SentinelAI-Knowledge-Service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6736407" y="2478584"/>
            <a:ext cx="1884015" cy="2154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Stores normalized engineering metadata only. Supports webhook-driven ingestion and scheduled or manual sync. Exposes APIs for timeline, relationships, repositories, deployments, releases, Jira issues, and search.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910530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API Highlights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724471"/>
            <a:ext cx="38659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Core APIs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23577" y="2094012"/>
            <a:ext cx="3865959" cy="1171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/api/rca/analyze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/api/logs/upload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/api/logs/search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/api/elk-investigation/search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759226" y="1724471"/>
            <a:ext cx="38659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Knowledge Service APIs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59226" y="2094012"/>
            <a:ext cx="3865959" cy="1171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/api/sync/{github|jira|confluence|jenkins|all}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/api/webhooks/{sourceSystem}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/api/timeline</a:t>
            </a:r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· </a:t>
            </a:r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/relationships</a:t>
            </a:r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· </a:t>
            </a:r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/repositories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/api/deployments</a:t>
            </a:r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· </a:t>
            </a:r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/releases</a:t>
            </a:r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· </a:t>
            </a:r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/jira/issues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23577" y="3486224"/>
            <a:ext cx="8096845" cy="746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Core uses 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sentinelai.ai-engine.url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and 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sentinelai.ai-engine.provider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AI routing. Knowledge Service configuration is driven through 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sentinelai.knowledge.platforms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settings. The Knowledge Service is optional for RCA — if unavailable, Core continues RCA generation without engineering context.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23490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Local Run Guide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3764" y="1162720"/>
            <a:ext cx="6296471" cy="28816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44999" y="3259772"/>
            <a:ext cx="1182114" cy="4283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Run Individually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55211" y="3366800"/>
            <a:ext cx="1182114" cy="214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Start All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3273521" y="3366800"/>
            <a:ext cx="1182114" cy="214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Seed ELK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759443" y="3366800"/>
            <a:ext cx="1182114" cy="214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Start Infra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23577" y="4212654"/>
            <a:ext cx="8096845" cy="507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Each service can also be started individually — AI Engine via 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uvicorn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Core and Knowledge Service via 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mvnw.cmd spring-boot:run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and UI via 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npm start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27434"/>
            <a:ext cx="8096845" cy="412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Status &amp; What's Next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422597" y="1037109"/>
            <a:ext cx="4079304" cy="3678957"/>
          </a:xfrm>
          <a:prstGeom prst="roundRect">
            <a:avLst>
              <a:gd name="adj" fmla="val 572"/>
            </a:avLst>
          </a:prstGeom>
          <a:solidFill>
            <a:srgbClr val="626C3B"/>
          </a:solidFill>
          <a:ln/>
        </p:spPr>
      </p:sp>
      <p:sp>
        <p:nvSpPr>
          <p:cNvPr id="4" name="Text 2"/>
          <p:cNvSpPr/>
          <p:nvPr/>
        </p:nvSpPr>
        <p:spPr>
          <a:xfrm>
            <a:off x="562794" y="1168598"/>
            <a:ext cx="3798912" cy="211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Implemented Now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2794" y="1511126"/>
            <a:ext cx="3798912" cy="1270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RCA analysis from logs</a:t>
            </a:r>
            <a:endParaRPr lang="en-US" sz="1100" dirty="0"/>
          </a:p>
          <a:p>
            <a:pPr algn="l" marL="223520" indent="-223520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Live ELK investigation</a:t>
            </a:r>
            <a:endParaRPr lang="en-US" sz="1100" dirty="0"/>
          </a:p>
          <a:p>
            <a:pPr algn="l" marL="223520" indent="-223520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AI provider routing (Groq, Ollama, HuggingFace, OpenAI)</a:t>
            </a:r>
            <a:endParaRPr lang="en-US" sz="1100" dirty="0"/>
          </a:p>
          <a:p>
            <a:pPr algn="l" marL="223520" indent="-223520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Knowledge Service sync and webhook ingestion</a:t>
            </a:r>
            <a:endParaRPr lang="en-US" sz="1100" dirty="0"/>
          </a:p>
          <a:p>
            <a:pPr algn="l" marL="223520" indent="-223520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Engineering-context enrichment for RCA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47840" y="1168598"/>
            <a:ext cx="3877345" cy="211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🔭</a:t>
            </a:r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Planned or Evolving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747840" y="1511126"/>
            <a:ext cx="3877345" cy="1224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Deeper incident correlation across systems</a:t>
            </a:r>
            <a:endParaRPr lang="en-US" sz="1100" dirty="0"/>
          </a:p>
          <a:p>
            <a:pPr algn="l" marL="223520" indent="-223520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Real-time Kafka-based monitoring</a:t>
            </a:r>
            <a:endParaRPr lang="en-US" sz="1100" dirty="0"/>
          </a:p>
          <a:p>
            <a:pPr algn="l" marL="223520" indent="-223520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Automated Jira/Slack remediation workflows</a:t>
            </a:r>
            <a:endParaRPr lang="en-US" sz="1100" dirty="0"/>
          </a:p>
          <a:p>
            <a:pPr algn="l" marL="223520" indent="-223520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Stronger production-grade integrations with enterprise platforms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47840" y="2918817"/>
            <a:ext cx="3877345" cy="19050"/>
          </a:xfrm>
          <a:prstGeom prst="roundRect">
            <a:avLst>
              <a:gd name="adj" fmla="val 60000"/>
            </a:avLst>
          </a:prstGeom>
          <a:solidFill>
            <a:srgbClr val="D6E5EF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747840" y="3120777"/>
            <a:ext cx="3877345" cy="211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📂</a:t>
            </a:r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Repo Navigation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747840" y="3463305"/>
            <a:ext cx="3877345" cy="1134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Each service has its own README: </a:t>
            </a:r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sentinelai-ui/</a:t>
            </a:r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SentinelAI-Core/</a:t>
            </a:r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SentinelAI-Engine/</a:t>
            </a:r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SentinelAI-Knowledge-Service/</a:t>
            </a:r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Architecture diagrams: </a:t>
            </a:r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SentinelAI-Architecture-v2.drawio</a:t>
            </a:r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SentinelAI-ELK-Investigation-v1.drawio</a:t>
            </a:r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SentinelAI-Agentic-Flow-v1.drawio</a:t>
            </a:r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2026-07-14T09:29:44Z</dcterms:created>
  <dcterms:modified xsi:type="dcterms:W3CDTF">2026-07-14T09:29:44Z</dcterms:modified>
</cp:coreProperties>
</file>