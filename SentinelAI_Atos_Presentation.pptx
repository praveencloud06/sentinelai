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SentinelAI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CD4"/>
                </a:solidFill>
              </a:rPr>
              <a:t>AI-Assisted Incident Investigation &amp; RCA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63240"/>
            <a:ext cx="5943600" cy="640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18688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BC9"/>
                </a:solidFill>
              </a:rPr>
              <a:t>AI layer on top of ELK  ·  Kafka  ·  Cloud-Native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Praveen Kumar Deshmukh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38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BC9"/>
                </a:solidFill>
              </a:rPr>
              <a:t>Principal Software Engineer &amp; Architect  |  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CD4"/>
                </a:solidFill>
              </a:rPr>
              <a:t>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097280"/>
            <a:ext cx="36576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0" y="1783080"/>
            <a:ext cx="3108960" cy="54864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0" y="2468880"/>
            <a:ext cx="3383279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3154680"/>
            <a:ext cx="2926079" cy="54864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3840480"/>
            <a:ext cx="356616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0" y="4526280"/>
            <a:ext cx="3200400" cy="54864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5212080"/>
            <a:ext cx="36576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5897880"/>
            <a:ext cx="3017520" cy="54864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5943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BC9"/>
                </a:solidFill>
              </a:rPr>
              <a:t>[ ATOS INTERNAL — CONFIDENTIAL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Problem &amp;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CD4"/>
                </a:solidFill>
              </a:rPr>
              <a:t>Engineers spend 40–60 % of incident response manually querying ELK and writing RCAs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1261872"/>
            <a:ext cx="36576" cy="4846320"/>
          </a:xfrm>
          <a:prstGeom prst="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D00"/>
                </a:solidFill>
              </a:rPr>
              <a:t>Current 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4754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Manual log analysis — slow, repetitive, error-prone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32304"/>
            <a:ext cx="4754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Kibana DSL expertise required; non-experts blocked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45536"/>
            <a:ext cx="4754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RCAs written hours later from fading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58768"/>
            <a:ext cx="4754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Past incidents not reused — same root causes recur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72000"/>
            <a:ext cx="4754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Senior engineers bottleneck every on-call rotation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26187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CD4"/>
                </a:solidFill>
              </a:rPr>
              <a:t>Why Act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719072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Datadog AI, Dynatrace Davis, New Relic Grok — vendors racing to ship AI copilots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432304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Early adopters report 30–50 % MTTR reduction with AI-assisted triage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145536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Our ELK + Kafka + Spring Boot stack is already AI-ready — no infra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858768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SentinelAI is a working system, not a prototype — ready to grow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4572000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Window to differentiate Atos proposals is open right now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053328"/>
            <a:ext cx="12188952" cy="658368"/>
          </a:xfrm>
          <a:prstGeom prst="rect">
            <a:avLst/>
          </a:prstGeom>
          <a:solidFill>
            <a:srgbClr val="00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8990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The question is not whether to add AI to observability — it is who builds it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What is SentinelAI?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CD4"/>
                </a:solidFill>
              </a:rPr>
              <a:t>Three capabilities — built and designed on the stack we already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3566160" cy="4572000"/>
          </a:xfrm>
          <a:prstGeom prst="rect">
            <a:avLst/>
          </a:prstGeom>
          <a:solidFill>
            <a:srgbClr val="10243E"/>
          </a:solidFill>
          <a:ln w="2540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ED6"/>
                </a:solidFill>
              </a:rPr>
              <a:t>Log RCA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291840" cy="36576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4767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Paste log or upload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5059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AI returns: issue, root cause,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5351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    ◦ impacted service, fix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5643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Enriched with past incident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5102352"/>
            <a:ext cx="3346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384C60"/>
                </a:solidFill>
              </a:rPr>
              <a:t>diagram: SentinelAI-Architecture-v2.drawio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3088" y="1261872"/>
            <a:ext cx="3566160" cy="4572000"/>
          </a:xfrm>
          <a:prstGeom prst="rect">
            <a:avLst/>
          </a:prstGeom>
          <a:solidFill>
            <a:srgbClr val="10243E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D4"/>
                </a:solidFill>
              </a:rPr>
              <a:t>ELK Live Investigation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828800"/>
            <a:ext cx="329184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194767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Select service + severity + timeframe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245059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Live BoolQuery against Elasticsearch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95351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AI summary + suspicious log 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45643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    ◦ ≤ 50 lines, deduped, AI-ranked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5102352"/>
            <a:ext cx="3346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384C60"/>
                </a:solidFill>
              </a:rPr>
              <a:t>diagram: SentinelAI-ELK-Investigation-v1.drawio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0416" y="1261872"/>
            <a:ext cx="3566160" cy="4572000"/>
          </a:xfrm>
          <a:prstGeom prst="rect">
            <a:avLst/>
          </a:prstGeom>
          <a:solidFill>
            <a:srgbClr val="10243E"/>
          </a:solidFill>
          <a:ln w="254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37576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4DFF"/>
                </a:solidFill>
              </a:rPr>
              <a:t>Agentic AI  (Designed)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7576" y="1828800"/>
            <a:ext cx="3291840" cy="36576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83296" y="194767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ReAct agent loop over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245059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Queries ELK, Kafka, deploy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295351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Correlates cross-system signals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45643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Files Jira, posts Slack autonomously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02352"/>
            <a:ext cx="3346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384C60"/>
                </a:solidFill>
              </a:rPr>
              <a:t>diagram: SentinelAI-Agentic-Flow-v1.drawio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943600"/>
            <a:ext cx="11430000" cy="502920"/>
          </a:xfrm>
          <a:prstGeom prst="rect">
            <a:avLst/>
          </a:prstGeom>
          <a:solidFill>
            <a:srgbClr val="051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007608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BC9"/>
                </a:solidFill>
              </a:rPr>
              <a:t>React  ·  Spring Boot  ·  FastAPI  ·  PostgreSQL + pgvector  ·  Elasticsearch  ·  Groq / Ollama  · 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CD4"/>
                </a:solidFill>
              </a:rPr>
              <a:t>Three independently deployable services + Docker-compose infra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4754880" cy="1078992"/>
          </a:xfrm>
          <a:prstGeom prst="rect">
            <a:avLst/>
          </a:prstGeom>
          <a:solidFill>
            <a:srgbClr val="10243E"/>
          </a:solidFill>
          <a:ln w="2540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D6"/>
                </a:solidFill>
              </a:rPr>
              <a:t>sentinelai-ui    :3000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73936"/>
            <a:ext cx="4480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React SPA  ·  Log RCA tab  ·  ELK Investigation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340864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6ED6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32304"/>
            <a:ext cx="4754880" cy="1078992"/>
          </a:xfrm>
          <a:prstGeom prst="rect">
            <a:avLst/>
          </a:prstGeom>
          <a:solidFill>
            <a:srgbClr val="10243E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23744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</a:rPr>
              <a:t>SentinelAI-Core  :8080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44368"/>
            <a:ext cx="4480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Spring Boot  ·  REST APIs  ·  RAG  ·  ElkClient  ·  pgvector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511296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6ED6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02736"/>
            <a:ext cx="4754880" cy="1078992"/>
          </a:xfrm>
          <a:prstGeom prst="rect">
            <a:avLst/>
          </a:prstGeom>
          <a:solidFill>
            <a:srgbClr val="10243E"/>
          </a:solidFill>
          <a:ln w="254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94176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4DFF"/>
                </a:solidFill>
              </a:rPr>
              <a:t>SentinelAI-Engine  :8000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4480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FastAPI  ·  Provider routing: Groq · Ollama · OpenAI · HF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681728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6ED6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73168"/>
            <a:ext cx="4754880" cy="1078992"/>
          </a:xfrm>
          <a:prstGeom prst="rect">
            <a:avLst/>
          </a:prstGeom>
          <a:solidFill>
            <a:srgbClr val="10243E"/>
          </a:solidFill>
          <a:ln w="254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86460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D00"/>
                </a:solidFill>
              </a:rPr>
              <a:t>Infra  (Docker Compose)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85232"/>
            <a:ext cx="4480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PostgreSQL+pgvector  ·  Elasticsearch 7.x  ·  Ollama  ·  Kafka (P2)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1261872"/>
            <a:ext cx="6492240" cy="5093208"/>
          </a:xfrm>
          <a:prstGeom prst="rect">
            <a:avLst/>
          </a:prstGeom>
          <a:solidFill>
            <a:srgbClr val="061426"/>
          </a:solidFill>
          <a:ln w="19050">
            <a:solidFill>
              <a:srgbClr val="40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0" y="3122676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55868"/>
                </a:solidFill>
              </a:rPr>
              <a:t>INSERT DIAGRAM 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64388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0BCD4"/>
                </a:solidFill>
              </a:rPr>
              <a:t>SentinelAI-Architecture-v2.drawio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10108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BC9"/>
                </a:solidFill>
              </a:rPr>
              <a:t>Export as PNG from draw.io  →  delete this box  →  insert picture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ELK-Based Live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CD4"/>
                </a:solidFill>
              </a:rPr>
              <a:t>Select service + severity + timeframe  →  AI-generated analysis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4754880" cy="859536"/>
          </a:xfrm>
          <a:prstGeom prst="rect">
            <a:avLst/>
          </a:prstGeom>
          <a:solidFill>
            <a:srgbClr val="10243E"/>
          </a:solidFill>
          <a:ln w="2286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</a:rPr>
              <a:t>1  Engineer selects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service  ·  severity  ·  time range in the UI tab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4754880" cy="859536"/>
          </a:xfrm>
          <a:prstGeom prst="rect">
            <a:avLst/>
          </a:prstGeom>
          <a:solidFill>
            <a:srgbClr val="10243E"/>
          </a:solidFill>
          <a:ln w="2286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6771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D6"/>
                </a:solidFill>
              </a:rPr>
              <a:t>2  POST to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POST /api/elk-investigation/search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27248"/>
            <a:ext cx="4754880" cy="859536"/>
          </a:xfrm>
          <a:prstGeom prst="rect">
            <a:avLst/>
          </a:prstGeom>
          <a:solidFill>
            <a:srgbClr val="10243E"/>
          </a:solidFill>
          <a:ln w="2286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3  Core → Elasticsearch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8444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BoolQuery: service + severity + date range  ·  ≤50 lines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59936"/>
            <a:ext cx="4754880" cy="859536"/>
          </a:xfrm>
          <a:prstGeom prst="rect">
            <a:avLst/>
          </a:prstGeom>
          <a:solidFill>
            <a:srgbClr val="10243E"/>
          </a:solidFill>
          <a:ln w="2286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3308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D00"/>
                </a:solidFill>
              </a:rPr>
              <a:t>4  Core → AI-Engine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171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ElkPromptBuilder numbers lines  →  POST /analyze?provider=groq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992624"/>
            <a:ext cx="4754880" cy="859536"/>
          </a:xfrm>
          <a:prstGeom prst="rect">
            <a:avLst/>
          </a:prstGeom>
          <a:solidFill>
            <a:srgbClr val="10243E"/>
          </a:solidFill>
          <a:ln w="228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06577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5  Response →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4982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Summary  ·  Root cause  ·  Impacted service  ·  Suspicious logs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1261872"/>
            <a:ext cx="6492240" cy="5093208"/>
          </a:xfrm>
          <a:prstGeom prst="rect">
            <a:avLst/>
          </a:prstGeom>
          <a:solidFill>
            <a:srgbClr val="061426"/>
          </a:solidFill>
          <a:ln w="19050">
            <a:solidFill>
              <a:srgbClr val="40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0" y="3122676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55868"/>
                </a:solidFill>
              </a:rPr>
              <a:t>INSERT DIAGRAM 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64388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0BCD4"/>
                </a:solidFill>
              </a:rPr>
              <a:t>SentinelAI-ELK-Investigation-v1.drawio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10108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BC9"/>
                </a:solidFill>
              </a:rPr>
              <a:t>Export as PNG from draw.io  →  delete this box  →  insert picture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Log RCA  +  Incident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CD4"/>
                </a:solidFill>
              </a:rPr>
              <a:t>Two complementary capabilities — each makes the other more valuable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5577840" cy="5074920"/>
          </a:xfrm>
          <a:prstGeom prst="rect">
            <a:avLst/>
          </a:prstGeom>
          <a:solidFill>
            <a:srgbClr val="10243E"/>
          </a:solidFill>
          <a:ln w="2540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ED6"/>
                </a:solidFill>
              </a:rPr>
              <a:t>Log RCA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56232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Paste log or upload file  →  POST /api/rca/analyze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Optionally retrieves similar past incidents via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26664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Prompt = log text + retrieved context  →  AI-Engine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Groq Llama 3.3 70B returns structured JSON: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97096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    issue  ·  rootCause  ·  impactedService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82312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    recommendedFix  ·  provider  · 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6752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Provider swappable via config  —  no code change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261872"/>
            <a:ext cx="5852160" cy="5074920"/>
          </a:xfrm>
          <a:prstGeom prst="rect">
            <a:avLst/>
          </a:prstGeom>
          <a:solidFill>
            <a:srgbClr val="1024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353312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AF50"/>
                </a:solidFill>
              </a:rPr>
              <a:t>Incident Knowledge Base  (RAG)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856232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Store incidents:  POST /api/logs/upload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41448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Core generates vector embeddings (Ollama / configurable)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026664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Stored in PostgreSQL with pgvector extension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61188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Semantic search:  POST /api/logs/search  →  cosine top-K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197096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On each RCA:  top similar incidents fed to LLM as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782312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Every stored incident improves future RCA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67528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Roadmap: BM25 hybrid search  ·  multi-tenant  ·  Qdrant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Agentic AI — SentinelAI as an Autonomous SRE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CD4"/>
                </a:solidFill>
              </a:rPr>
              <a:t>Beyond a single LLM call: a reasoning agent that plans, uses tools, and iterates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4DFF"/>
                </a:solidFill>
              </a:rPr>
              <a:t>ReAct Agent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19072"/>
            <a:ext cx="4754880" cy="694944"/>
          </a:xfrm>
          <a:prstGeom prst="rect">
            <a:avLst/>
          </a:prstGeom>
          <a:solidFill>
            <a:srgbClr val="10243E"/>
          </a:solidFill>
          <a:ln w="2286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922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</a:rPr>
              <a:t>Reason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1810512"/>
            <a:ext cx="3035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Analyse context + tool results so far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87168"/>
            <a:ext cx="4754880" cy="694944"/>
          </a:xfrm>
          <a:prstGeom prst="rect">
            <a:avLst/>
          </a:prstGeom>
          <a:solidFill>
            <a:srgbClr val="10243E"/>
          </a:solidFill>
          <a:ln w="2286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D00"/>
                </a:solidFill>
              </a:rPr>
              <a:t>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2578608"/>
            <a:ext cx="3035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Call a tool  (ELK, Kafka, deploy history, KB)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55264"/>
            <a:ext cx="4754880" cy="694944"/>
          </a:xfrm>
          <a:prstGeom prst="rect">
            <a:avLst/>
          </a:prstGeom>
          <a:solidFill>
            <a:srgbClr val="10243E"/>
          </a:solidFill>
          <a:ln w="2286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284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3346704"/>
            <a:ext cx="3035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Ingest result, update working memory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4754880" cy="694944"/>
          </a:xfrm>
          <a:prstGeom prst="rect">
            <a:avLst/>
          </a:prstGeom>
          <a:solidFill>
            <a:srgbClr val="10243E"/>
          </a:solidFill>
          <a:ln w="228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96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Repeat →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4114800"/>
            <a:ext cx="3035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C9"/>
                </a:solidFill>
              </a:rPr>
              <a:t>Until goal met → emit RCA + runbook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9194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CD4"/>
                </a:solidFill>
              </a:rPr>
              <a:t>Tool Registry  (what the agent can invoke)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309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• query_elasticsearch()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3309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• query_kafka_lag()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7150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• get_deployment_history()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7150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• search_incident_kb()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0990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• create_jira_ticket()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60990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• post_slack_alert()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1261872"/>
            <a:ext cx="6492240" cy="5093208"/>
          </a:xfrm>
          <a:prstGeom prst="rect">
            <a:avLst/>
          </a:prstGeom>
          <a:solidFill>
            <a:srgbClr val="061426"/>
          </a:solidFill>
          <a:ln w="19050">
            <a:solidFill>
              <a:srgbClr val="40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3122676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55868"/>
                </a:solidFill>
              </a:rPr>
              <a:t>INSERT DIAGRAM 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64388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0BCD4"/>
                </a:solidFill>
              </a:rPr>
              <a:t>SentinelAI-Agentic-Flow-v1.drawio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410108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BC9"/>
                </a:solidFill>
              </a:rPr>
              <a:t>Export as PNG from draw.io  →  delete this box  →  insert picture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Agentic Orchestration —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CD4"/>
                </a:solidFill>
              </a:rPr>
              <a:t>Designed foundation: this is why it is not trivial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D00"/>
                </a:solidFill>
              </a:rPr>
              <a:t>Engineering Challenges (solved in design)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4754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Context window management across many tool calls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4754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Parallel tool invocation without race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34640"/>
            <a:ext cx="4754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Prompt-injection safety from raw log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4754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Hallucination guardrails + self-consistency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31920"/>
            <a:ext cx="4754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Cost &amp; latency budget enforcement per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80560"/>
            <a:ext cx="4754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Deterministic audit trail for enterprise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023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BC9"/>
                </a:solidFill>
              </a:rPr>
              <a:t>Two diagrams on the right show the full design.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1261872"/>
            <a:ext cx="6492240" cy="2336292"/>
          </a:xfrm>
          <a:prstGeom prst="rect">
            <a:avLst/>
          </a:prstGeom>
          <a:solidFill>
            <a:srgbClr val="061426"/>
          </a:solidFill>
          <a:ln w="19050">
            <a:solidFill>
              <a:srgbClr val="40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1744218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55868"/>
                </a:solidFill>
              </a:rPr>
              <a:t>INSERT DIAGRAM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265426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0BCD4"/>
                </a:solidFill>
              </a:rPr>
              <a:t>SentinelAI-Agentic-Swimlane-v1.drawio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272262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BC9"/>
                </a:solidFill>
              </a:rPr>
              <a:t>Export as PNG from draw.io  →  delete this box  →  insert picture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3781044"/>
            <a:ext cx="6492240" cy="2336292"/>
          </a:xfrm>
          <a:prstGeom prst="rect">
            <a:avLst/>
          </a:prstGeom>
          <a:solidFill>
            <a:srgbClr val="061426"/>
          </a:solidFill>
          <a:ln w="19050">
            <a:solidFill>
              <a:srgbClr val="40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4263390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55868"/>
                </a:solidFill>
              </a:rPr>
              <a:t>INSERT DIAGRAM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4784598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0BCD4"/>
                </a:solidFill>
              </a:rPr>
              <a:t>SentinelAI-Agentic-StateFlow-v1.drawio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524179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BC9"/>
                </a:solidFill>
              </a:rPr>
              <a:t>Export as PNG from draw.io  →  delete this box  →  insert picture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Value for Atos  +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CD4"/>
                </a:solidFill>
              </a:rPr>
              <a:t>Immediate gain today  ·  Client differentiator  ·  Path to enterprise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4754880" cy="1097280"/>
          </a:xfrm>
          <a:prstGeom prst="rect">
            <a:avLst/>
          </a:prstGeom>
          <a:solidFill>
            <a:srgbClr val="10243E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CD4"/>
                </a:solidFill>
              </a:rPr>
              <a:t>Internal Productivity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79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Faster triage, consistent RCA, less tribal knowledge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50592"/>
            <a:ext cx="4754880" cy="1097280"/>
          </a:xfrm>
          <a:prstGeom prst="rect">
            <a:avLst/>
          </a:prstGeom>
          <a:solidFill>
            <a:srgbClr val="10243E"/>
          </a:solidFill>
          <a:ln w="25400">
            <a:solidFill>
              <a:srgbClr val="006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420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ED6"/>
                </a:solidFill>
              </a:rPr>
              <a:t>Client Differentiation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1799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Live AI-on-ELK demo — tangible GenAI on existing stack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39312"/>
            <a:ext cx="4754880" cy="1097280"/>
          </a:xfrm>
          <a:prstGeom prst="rect">
            <a:avLst/>
          </a:prstGeom>
          <a:solidFill>
            <a:srgbClr val="1024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3075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Capability Building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60519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Applied GenAI: RAG, agents, LLMOps, vector databases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28032"/>
            <a:ext cx="4754880" cy="1097280"/>
          </a:xfrm>
          <a:prstGeom prst="rect">
            <a:avLst/>
          </a:prstGeom>
          <a:solidFill>
            <a:srgbClr val="10243E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91947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Product / Accelerator Seed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49239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BC9"/>
                </a:solidFill>
              </a:rPr>
              <a:t>OIDC + RBAC + multi-tenant → reusable Atos SRE accelerator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1261872"/>
            <a:ext cx="6492240" cy="5093208"/>
          </a:xfrm>
          <a:prstGeom prst="rect">
            <a:avLst/>
          </a:prstGeom>
          <a:solidFill>
            <a:srgbClr val="10243E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1353312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CD4"/>
                </a:solidFill>
              </a:rPr>
              <a:t>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1792224"/>
            <a:ext cx="612648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192024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</a:rPr>
              <a:t>P1  —  Next 6–12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2304288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Natural language operational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688336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'Show payment failures after latest deploy' → AI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072384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Incident correlation &amp; investigation timeline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345643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Deployment → Kafka lag → DB timeout → errors → one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38404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Deployment regression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440740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D00"/>
                </a:solidFill>
              </a:rPr>
              <a:t>P2  —  Beyond 12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4791456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Real-time ELK/Kafka monitoring with AI anomaly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5175504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Jira + Slack / Teams automation from AI-generated RCA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555955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Enterprise: SSO, RBAC, multi-tenant, audit logging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594360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LLMOps: feedback loop, cost tracking, A/B model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Next Steps &amp;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CD4"/>
                </a:solidFill>
              </a:rPr>
              <a:t>Three things from Atos stakeholders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BC9"/>
                </a:solidFill>
              </a:rPr>
              <a:t>SentinelAI  |  Atos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3566160" cy="2011680"/>
          </a:xfrm>
          <a:prstGeom prst="rect">
            <a:avLst/>
          </a:prstGeom>
          <a:solidFill>
            <a:srgbClr val="10243E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CD4"/>
                </a:solidFill>
              </a:rPr>
              <a:t>Identify a Pilot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10512"/>
            <a:ext cx="329184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32918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One service/team to co-innovate.
Payments, invoicing, or ops domain.
Real ELK index with incident history.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088" y="1261872"/>
            <a:ext cx="3566160" cy="2011680"/>
          </a:xfrm>
          <a:prstGeom prst="rect">
            <a:avLst/>
          </a:prstGeom>
          <a:solidFill>
            <a:srgbClr val="10243E"/>
          </a:solidFill>
          <a:ln w="254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371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D00"/>
                </a:solidFill>
              </a:rPr>
              <a:t>Prioritise P1 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10512"/>
            <a:ext cx="3291840" cy="36576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920240"/>
            <a:ext cx="32918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Choose one to implement first:
• Natural language search
• Correlation timeline
• Regression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0416" y="1261872"/>
            <a:ext cx="3566160" cy="2011680"/>
          </a:xfrm>
          <a:prstGeom prst="rect">
            <a:avLst/>
          </a:prstGeom>
          <a:solidFill>
            <a:srgbClr val="1024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6" y="1371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Support &amp; Sponsorship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6" y="1810512"/>
            <a:ext cx="329184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7576" y="1920240"/>
            <a:ext cx="32918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Time + ELK/Kafka env access.
Position as an Atos AI-SRE
acelerator for client bids.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730752"/>
            <a:ext cx="12188952" cy="640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BC9"/>
                </a:solidFill>
              </a:rPr>
              <a:t>Praveen Kumar Deshmukh  |  Principal Software Engineer &amp; Architect  |  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21808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BCD4"/>
                </a:solidFill>
              </a:rPr>
              <a:t>Questions?  Let’s talk about making SentinelAI real for Atos.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