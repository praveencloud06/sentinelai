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64" r:id="rId10"/>
    <p:sldId id="265" r:id="rId11"/>
    <p:sldId id="262" r:id="rId12"/>
    <p:sldId id="266" r:id="rId13"/>
    <p:sldId id="267" r:id="rId14"/>
    <p:sldId id="268" r:id="rId15"/>
    <p:sldId id="269" r:id="rId16"/>
    <p:sldId id="270" r:id="rId17"/>
    <p:sldId id="274" r:id="rId18"/>
    <p:sldId id="271" r:id="rId1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Lora" pitchFamily="2" charset="0"/>
      <p:regular r:id="rId25"/>
      <p:bold r:id="rId26"/>
      <p:italic r:id="rId27"/>
      <p:boldItalic r:id="rId28"/>
    </p:embeddedFont>
    <p:embeddedFont>
      <p:font typeface="Source Sans 3" panose="020B0604020202020204" charset="0"/>
      <p:regular r:id="rId29"/>
    </p:embeddedFont>
    <p:embeddedFont>
      <p:font typeface="Source Sans 3 Bold" panose="020B0604020202020204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1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8265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347020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Accelerate incident investigation with AI-powered root cause analysis. Reduce MTTR by combining log analysis, live observability, and engineering context into a single intelligent platform.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233440"/>
            <a:ext cx="781273" cy="227335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13321" y="3278312"/>
            <a:ext cx="1058987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RCA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379637" y="3233440"/>
            <a:ext cx="821457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469380" y="3278312"/>
            <a:ext cx="1099170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75880" y="3233440"/>
            <a:ext cx="1316385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365623" y="3278312"/>
            <a:ext cx="159409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OUTPUT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9809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Incident Investigation Challenge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1203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1981572"/>
            <a:ext cx="3865959" cy="231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Incidents are expensive: every minute of downtime impacts customers and revenue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Investigation is manual and slow: engineers manually search logs, correlate data, and piece together root causes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is scattered: context lives in GitHub, Jira, Confluence, Jenkins—not in the incident investigation flow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RCA is inconsistent: different teams produce different quality root cause analyses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9226" y="161203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impact: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9226" y="1981572"/>
            <a:ext cx="3865959" cy="1353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MTTR (Mean Time To Resolution)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incidents from same root causes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Inconsistent incident documentation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 time spent on manual investigation instead of prevention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7187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AI for Incident Investigation?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311101"/>
            <a:ext cx="3973637" cy="1555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0578" y="1423318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92200" y="1909465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Pattern Recognition at Scale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2200" y="221917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can analyze thousands of log lines and identify patterns humans would miss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786" y="1311101"/>
            <a:ext cx="3973637" cy="15554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3787" y="1423318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815408" y="1909465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Instant Context Correlation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15408" y="221917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logs to deployments, code changes, and infrastructure events automatically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3016151"/>
            <a:ext cx="3973637" cy="15554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20578" y="3128367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92200" y="3614514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Structured Output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92200" y="392422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consistent, machine-readable RCA that feeds into downstream systems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786" y="3016151"/>
            <a:ext cx="3973637" cy="15554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43787" y="3128367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815408" y="3614514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Augment, Not Replace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15408" y="392422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assists engineers with faster analysis, not autonomous decision-making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5487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002854"/>
            <a:ext cx="8096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SentinelAI: The Solution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23577" y="2521148"/>
            <a:ext cx="809684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 is designed to address the challenges of incident investigation, providing an intelligent platform to accelerate root cause analysis and reduce MTTR.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577" y="2998961"/>
            <a:ext cx="2630537" cy="1690315"/>
          </a:xfrm>
          <a:prstGeom prst="roundRect">
            <a:avLst>
              <a:gd name="adj" fmla="val 10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7402" y="3122786"/>
            <a:ext cx="371624" cy="371624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573" y="3224957"/>
            <a:ext cx="167208" cy="1672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7402" y="3596953"/>
            <a:ext cx="238288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 RCA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7402" y="3840659"/>
            <a:ext cx="2382887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Paste logs or upload files. AI analyzes and produces structured root cause analysis with issue, root cause, impacted service, and recommended fix.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56657" y="2998961"/>
            <a:ext cx="2630612" cy="1690315"/>
          </a:xfrm>
          <a:prstGeom prst="roundRect">
            <a:avLst>
              <a:gd name="adj" fmla="val 10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380482" y="3122786"/>
            <a:ext cx="371624" cy="371624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2653" y="3224957"/>
            <a:ext cx="167208" cy="1672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80482" y="3596953"/>
            <a:ext cx="238296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ELK Investigation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380482" y="3840659"/>
            <a:ext cx="238296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Query Elasticsearch directly. Retrieve recent logs, summarize them, and get AI-generated investigation results with suspicious log lines and recommended actions.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989811" y="2998961"/>
            <a:ext cx="2630537" cy="1690315"/>
          </a:xfrm>
          <a:prstGeom prst="roundRect">
            <a:avLst>
              <a:gd name="adj" fmla="val 10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113636" y="3122786"/>
            <a:ext cx="371624" cy="371624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5807" y="3224957"/>
            <a:ext cx="167208" cy="1672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13636" y="3596953"/>
            <a:ext cx="238288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Engineering Context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113636" y="3840659"/>
            <a:ext cx="2382887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enrich RCA with metadata from GitHub, Jira, Confluence, and Jenkins. Connect incidents to deployments, code changes, and team context.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at a Glance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29481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728716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high-level overview illustrates the core components of the SentinelAI platform and their relationships.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667994" y="721072"/>
            <a:ext cx="4102626" cy="206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UI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React interface for RCA and ELK investigation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2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Spring Boot orchestration for RCA, log ingestion, and Elasticsearch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2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Engine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Python FastAPI routing to Groq, Ollama, HuggingFace, or OpenAI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2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Knowledge Service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Spring Boot microservice indexing GitHub, Jira, Confluence, and Jenkins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41499"/>
            <a:ext cx="4667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 RCA Workflow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1011362"/>
            <a:ext cx="399678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70871" y="1144563"/>
            <a:ext cx="414955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470871" y="1411635"/>
            <a:ext cx="414955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Paste log text or upload a file from the UI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379" y="1929408"/>
            <a:ext cx="399678" cy="7143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70673" y="2062609"/>
            <a:ext cx="394975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670673" y="2329681"/>
            <a:ext cx="394975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content to Core via the RCA API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255" y="2847454"/>
            <a:ext cx="399678" cy="7143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70549" y="2980655"/>
            <a:ext cx="374987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870549" y="3247727"/>
            <a:ext cx="374987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RCA with issue, root cause, impacted service, and recommended fix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131" y="3902571"/>
            <a:ext cx="399678" cy="7143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70425" y="4035772"/>
            <a:ext cx="35499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Enrich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070425" y="4302844"/>
            <a:ext cx="354999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Optionally add engineering context from the Knowledge Service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070F14-1AB0-2544-61B6-D59DBA799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4644" y="-47881"/>
            <a:ext cx="3513644" cy="51913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6244"/>
            <a:ext cx="8096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2" charset="0"/>
                <a:ea typeface="Lora" pitchFamily="34" charset="-122"/>
                <a:cs typeface="Lora" pitchFamily="34" charset="-120"/>
              </a:rPr>
              <a:t>Live ELK Investigation</a:t>
            </a:r>
            <a:endParaRPr lang="en-US" sz="2450" dirty="0">
              <a:latin typeface="Lora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8" y="1092919"/>
            <a:ext cx="4577812" cy="2917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9170" y="827864"/>
            <a:ext cx="262257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F98AC7"/>
                </a:solidFill>
                <a:latin typeface="Lora" pitchFamily="2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1200" dirty="0">
              <a:latin typeface="Lor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26518" y="1124471"/>
            <a:ext cx="3398593" cy="14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Query Elasticsearch directly from the UI using service, severity, and timeframe</a:t>
            </a:r>
            <a:endParaRPr lang="en-US" sz="1200" dirty="0">
              <a:latin typeface="Lora" pitchFamily="2" charset="0"/>
            </a:endParaRPr>
          </a:p>
          <a:p>
            <a:pPr marL="203200" indent="-2032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Retrieve recent logs, summarize them, and produce an AI-generated investigation result</a:t>
            </a:r>
            <a:endParaRPr lang="en-US" sz="1200" dirty="0">
              <a:latin typeface="Lora" pitchFamily="2" charset="0"/>
            </a:endParaRPr>
          </a:p>
          <a:p>
            <a:pPr marL="203200" indent="-2032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Return suspicious log lines along with the likely root cause and recommended action</a:t>
            </a:r>
            <a:endParaRPr lang="en-US" sz="1200" dirty="0">
              <a:latin typeface="Lora" pitchFamily="2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C7078E3-6FE2-E7B5-3520-DC27B7E1991A}"/>
              </a:ext>
            </a:extLst>
          </p:cNvPr>
          <p:cNvSpPr/>
          <p:nvPr/>
        </p:nvSpPr>
        <p:spPr>
          <a:xfrm>
            <a:off x="5419170" y="2658414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F98AC7"/>
                </a:solidFill>
                <a:latin typeface="Lora" pitchFamily="2" charset="0"/>
                <a:ea typeface="Lora" pitchFamily="34" charset="-122"/>
                <a:cs typeface="Lora" pitchFamily="34" charset="-120"/>
              </a:rPr>
              <a:t>Response Fields</a:t>
            </a:r>
            <a:endParaRPr lang="en-US" sz="1200" dirty="0">
              <a:latin typeface="Lora" pitchFamily="2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73AFF44-C83F-619E-2525-6C0D9330C316}"/>
              </a:ext>
            </a:extLst>
          </p:cNvPr>
          <p:cNvSpPr/>
          <p:nvPr/>
        </p:nvSpPr>
        <p:spPr>
          <a:xfrm>
            <a:off x="5226518" y="2905010"/>
            <a:ext cx="3922171" cy="14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summary — AI one-paragraph incident summary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probableRootCause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 — Most likely cause with log evidence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impactedService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 — Service(s) affected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recommendedAction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 — Suggested remediation steps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suspiciousLogs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[] — Specific log lines flagged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491654"/>
            <a:ext cx="4667845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Engineering Knowledge Enrichment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523577" y="1394073"/>
            <a:ext cx="330279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9784" y="1520279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 Sync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9784" y="1769790"/>
            <a:ext cx="4415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 metadata from GitHub, Jira, Confluence, and Jenkins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23577" y="2188592"/>
            <a:ext cx="330279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9784" y="2314798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Webhook Ingestion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9784" y="2564309"/>
            <a:ext cx="4415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Ingest real-time webhook events from those systems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3577" y="2983111"/>
            <a:ext cx="330279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784" y="3109317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 APIs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784" y="3294980"/>
            <a:ext cx="3114497" cy="24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Expose timeline, relationship, repository, deployment, release,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Jira search APIs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3577" y="3777630"/>
            <a:ext cx="3302795" cy="874142"/>
          </a:xfrm>
          <a:prstGeom prst="roundRect">
            <a:avLst>
              <a:gd name="adj" fmla="val 216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9784" y="3903836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Normalized Index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9785" y="4153346"/>
            <a:ext cx="3114496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normalized engineering knowledge index without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performing AI reasoning itself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E424EF-5A98-29A9-D70A-1805D82CD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488" y="1313333"/>
            <a:ext cx="5253512" cy="37776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26797E-365E-1AB1-74F0-A197B0B412B1}"/>
              </a:ext>
            </a:extLst>
          </p:cNvPr>
          <p:cNvSpPr txBox="1"/>
          <p:nvPr/>
        </p:nvSpPr>
        <p:spPr>
          <a:xfrm>
            <a:off x="4572000" y="366900"/>
            <a:ext cx="4572000" cy="8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connects incident investigation to the broader engineering ecosystem by enriching Root Cause Analysis with vital engineering context.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Architecture &amp; Multi-LLM Support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646361"/>
            <a:ext cx="8096845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Flexible AI Provider Routing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3841" y="1362946"/>
            <a:ext cx="3634740" cy="32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 is AI-provider agnostic. The AI Engine routes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requests to the configured provider.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182" y="411436"/>
            <a:ext cx="5044440" cy="43206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3577" y="5533355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flexible AI provider routing represents a strategic advantage, allowing for significant flexibility and cost optimization by enabling teams to select the most suitable LLM provider based on their specific requirements.</a:t>
            </a:r>
            <a:endParaRPr lang="en-US" sz="5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E5DD15A-2D1A-7F71-0315-EF1D5A6B6735}"/>
              </a:ext>
            </a:extLst>
          </p:cNvPr>
          <p:cNvSpPr/>
          <p:nvPr/>
        </p:nvSpPr>
        <p:spPr>
          <a:xfrm>
            <a:off x="410678" y="1852435"/>
            <a:ext cx="3398593" cy="1103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Supported providers: 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Ollama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HuggingFace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OpenAI, and 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OpenRouter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-compatible endpoints</a:t>
            </a:r>
          </a:p>
          <a:p>
            <a:pPr marL="111760" indent="-111760">
              <a:buSzPct val="100000"/>
              <a:buChar char="•"/>
            </a:pPr>
            <a:endParaRPr lang="en-US" sz="1200" dirty="0"/>
          </a:p>
          <a:p>
            <a:pPr marL="111760" indent="-111760"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uses sentinelai.ai-engine.url and sentinelai.ai-</a:t>
            </a:r>
            <a:r>
              <a:rPr lang="en-US" sz="12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engine.provider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AI routing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A1E80-5535-C611-0CD5-5877A9DA5A6F}"/>
              </a:ext>
            </a:extLst>
          </p:cNvPr>
          <p:cNvSpPr txBox="1"/>
          <p:nvPr/>
        </p:nvSpPr>
        <p:spPr>
          <a:xfrm>
            <a:off x="243841" y="2935376"/>
            <a:ext cx="3718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flexibility allows teams to choose the best </a:t>
            </a:r>
          </a:p>
          <a:p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provider for their cost, latency, and privacy requirements.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9535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3577" y="1172617"/>
            <a:ext cx="8554045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clean, professional, and easy-to-scan overview of SentinelAI's technology stack for technical architects.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1714351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075855"/>
            <a:ext cx="4325987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3577" y="2454548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Services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3577" y="2816051"/>
            <a:ext cx="3868787" cy="5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(Core, Knowledge Service)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FastAPI (AI Engine)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6398" y="1714351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&amp; Observability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56398" y="2075855"/>
            <a:ext cx="3868787" cy="5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Elasticsearch (ELK)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 with pgvector (for semantic search)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6398" y="2738958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6398" y="3100462"/>
            <a:ext cx="3868787" cy="5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GitHub, Jira, Confluence, Jenkins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Groq, Ollama, HuggingFace, OpenAI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6398" y="3763566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6398" y="4125069"/>
            <a:ext cx="3868787" cy="5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 &amp; Docker Compose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Microservices architecture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F1A5BA8-5336-71F2-158D-7F8724A79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288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5443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Current Status: What's Implemented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194420"/>
            <a:ext cx="140196" cy="1401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577" y="1340197"/>
            <a:ext cx="3982641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23577" y="1448395"/>
            <a:ext cx="398264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RCA analysis from logs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(structured output)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708" y="1194420"/>
            <a:ext cx="140196" cy="1401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37708" y="1340197"/>
            <a:ext cx="3982715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637708" y="1448395"/>
            <a:ext cx="3982715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Live ELK investigation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AI-powered summarization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947937"/>
            <a:ext cx="140196" cy="14019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23577" y="2107704"/>
            <a:ext cx="3982641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523577" y="2229892"/>
            <a:ext cx="398264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provider routing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(Groq, Ollama, HuggingFace, OpenAI)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7708" y="1947937"/>
            <a:ext cx="140196" cy="14019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637708" y="2107704"/>
            <a:ext cx="3982715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/>
          <p:nvPr/>
        </p:nvSpPr>
        <p:spPr>
          <a:xfrm>
            <a:off x="4637708" y="2229892"/>
            <a:ext cx="3982715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Knowledge Service sync and webhook ingestion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2701454"/>
            <a:ext cx="140196" cy="14019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3577" y="2875211"/>
            <a:ext cx="3982641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/>
          <p:nvPr/>
        </p:nvSpPr>
        <p:spPr>
          <a:xfrm>
            <a:off x="523577" y="3011388"/>
            <a:ext cx="398264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Engineering-context enrichment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RCA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708" y="2701454"/>
            <a:ext cx="140196" cy="14019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637708" y="2875211"/>
            <a:ext cx="3982715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2"/>
          <p:cNvSpPr/>
          <p:nvPr/>
        </p:nvSpPr>
        <p:spPr>
          <a:xfrm>
            <a:off x="4637708" y="3011388"/>
            <a:ext cx="3982715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Semantic retrieval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pgvector embeddings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577" y="3454971"/>
            <a:ext cx="140196" cy="140196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23577" y="3642717"/>
            <a:ext cx="3982641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4"/>
          <p:cNvSpPr/>
          <p:nvPr/>
        </p:nvSpPr>
        <p:spPr>
          <a:xfrm>
            <a:off x="523577" y="3792885"/>
            <a:ext cx="398264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Multi-service microservices architecture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7708" y="3454971"/>
            <a:ext cx="140196" cy="140196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637708" y="3642717"/>
            <a:ext cx="3982715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6"/>
          <p:cNvSpPr/>
          <p:nvPr/>
        </p:nvSpPr>
        <p:spPr>
          <a:xfrm>
            <a:off x="4637708" y="3792885"/>
            <a:ext cx="3982715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Docker-based local development environment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523577" y="4263256"/>
            <a:ext cx="809684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features represent production-ready functionality, rigorously developed and tested to provide immediate value for accelerating incident investigation and reducing MTTR.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39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07172"/>
            <a:ext cx="8096845" cy="26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Roadmap: What's Next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523577" y="1727136"/>
            <a:ext cx="8096845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a living roadmap, and the SentinelAI platform is designed for continuous evolution, driven by the needs of modern incident management. Our forward-looking vision focuses on building an even more intelligent, proactive, and integrated solution.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577" y="2220367"/>
            <a:ext cx="809684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🔭</a:t>
            </a: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Planned or Evolving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2522860"/>
            <a:ext cx="4048423" cy="3646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735" y="2943002"/>
            <a:ext cx="3866108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Deeper incident correlation across systems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522860"/>
            <a:ext cx="4048423" cy="3646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157" y="2943002"/>
            <a:ext cx="3866108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Kafka-based monitoring and alerting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77" y="3259336"/>
            <a:ext cx="4048423" cy="364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735" y="3679478"/>
            <a:ext cx="3866108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Jira/Slack remediation workflows</a:t>
            </a:r>
            <a:endParaRPr lang="en-US" sz="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259336"/>
            <a:ext cx="4048423" cy="36462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63157" y="3679478"/>
            <a:ext cx="3866108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Stronger production-grade integrations with enterprise platforms</a:t>
            </a:r>
            <a:endParaRPr lang="en-US" sz="8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577" y="3995812"/>
            <a:ext cx="4048423" cy="36462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4735" y="4415954"/>
            <a:ext cx="3866108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incident pattern learning and prevention</a:t>
            </a:r>
            <a:endParaRPr lang="en-US" sz="8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3995812"/>
            <a:ext cx="4048423" cy="36462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663157" y="4415954"/>
            <a:ext cx="3866108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Multi-incident correlation and trend analysis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430634"/>
            <a:ext cx="4667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Benefits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23577" y="936278"/>
            <a:ext cx="4667845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 delivers tangible business value by streamlining incident management and enhancing operational efficiency.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577" y="1399952"/>
            <a:ext cx="2284512" cy="1038448"/>
          </a:xfrm>
          <a:prstGeom prst="roundRect">
            <a:avLst>
              <a:gd name="adj" fmla="val 175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9383" y="1535757"/>
            <a:ext cx="201290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MTTR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9383" y="1773734"/>
            <a:ext cx="2012900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incident investigation means faster resolution and less customer impact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06837" y="1399952"/>
            <a:ext cx="2284586" cy="1038448"/>
          </a:xfrm>
          <a:prstGeom prst="roundRect">
            <a:avLst>
              <a:gd name="adj" fmla="val 175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042642" y="1535757"/>
            <a:ext cx="201297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RCA Quality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42642" y="1773734"/>
            <a:ext cx="2012975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Consistent, structured root cause analysis across all teams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3577" y="2537147"/>
            <a:ext cx="2284512" cy="1038448"/>
          </a:xfrm>
          <a:prstGeom prst="roundRect">
            <a:avLst>
              <a:gd name="adj" fmla="val 175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59383" y="2672953"/>
            <a:ext cx="201290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Toil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9383" y="2910929"/>
            <a:ext cx="2012900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Engineers spend less time manually searching logs and more time on prevention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06837" y="2537147"/>
            <a:ext cx="2284586" cy="1038448"/>
          </a:xfrm>
          <a:prstGeom prst="roundRect">
            <a:avLst>
              <a:gd name="adj" fmla="val 175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042642" y="2672953"/>
            <a:ext cx="201297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Scalable Knowledge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042642" y="2910929"/>
            <a:ext cx="2012975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 context is automatically indexed and searchable, not siloed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3577" y="3674343"/>
            <a:ext cx="2284512" cy="1038448"/>
          </a:xfrm>
          <a:prstGeom prst="roundRect">
            <a:avLst>
              <a:gd name="adj" fmla="val 175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59383" y="3810149"/>
            <a:ext cx="201290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Cost Optimization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9383" y="4048125"/>
            <a:ext cx="2012900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Flexible AI provider routing allows teams to optimize for cost and performance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06837" y="3674343"/>
            <a:ext cx="2284586" cy="1038448"/>
          </a:xfrm>
          <a:prstGeom prst="roundRect">
            <a:avLst>
              <a:gd name="adj" fmla="val 175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042642" y="3810149"/>
            <a:ext cx="201297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042642" y="4048125"/>
            <a:ext cx="2012975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incident response improves customer trust and retention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0102"/>
            <a:ext cx="809684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 Ready Architecture – With Scale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3577" y="1104528"/>
            <a:ext cx="855404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architecture is designed for enterprise scale and reliability, ensuring robust performance under demanding conditions.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3577" y="1449437"/>
            <a:ext cx="2616994" cy="1865635"/>
          </a:xfrm>
          <a:prstGeom prst="roundRect">
            <a:avLst>
              <a:gd name="adj" fmla="val 1090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78210" y="1604070"/>
            <a:ext cx="230772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Microservices Design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78210" y="1877169"/>
            <a:ext cx="2307729" cy="10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component (UI, Core, AI Engine, Knowledge Service) can scale independently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Services can be deployed, updated, and scaled without affecting others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63429" y="1449437"/>
            <a:ext cx="2617068" cy="1865635"/>
          </a:xfrm>
          <a:prstGeom prst="roundRect">
            <a:avLst>
              <a:gd name="adj" fmla="val 1090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18061" y="1604070"/>
            <a:ext cx="230780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Flexible AI Provider Routing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18061" y="1877169"/>
            <a:ext cx="2307803" cy="869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locked into a single LLM provider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 switch providers or use multiple providers based on workload and cost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03354" y="1449437"/>
            <a:ext cx="2617068" cy="1865635"/>
          </a:xfrm>
          <a:prstGeom prst="roundRect">
            <a:avLst>
              <a:gd name="adj" fmla="val 1090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57987" y="1604070"/>
            <a:ext cx="230780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Decoupled Knowledge Service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57987" y="1877169"/>
            <a:ext cx="2307803" cy="128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 context is optional for RCA—Core continues without it if unavailable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Service can be scaled separately to handle high-volume metadata ingestion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3577" y="3437930"/>
            <a:ext cx="3986957" cy="1245468"/>
          </a:xfrm>
          <a:prstGeom prst="roundRect">
            <a:avLst>
              <a:gd name="adj" fmla="val 1633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8210" y="3592562"/>
            <a:ext cx="367769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Stateless Processing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8210" y="3865662"/>
            <a:ext cx="3677692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RCA analysis is stateless, allowing horizontal scaling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instances can process requests in parallel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3392" y="3437930"/>
            <a:ext cx="3987031" cy="1245468"/>
          </a:xfrm>
          <a:prstGeom prst="roundRect">
            <a:avLst>
              <a:gd name="adj" fmla="val 1633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88024" y="3592562"/>
            <a:ext cx="3677766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Extensible Integration Points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88024" y="3865662"/>
            <a:ext cx="3677766" cy="663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Webhook-driven ingestion allows real-time updates from any system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APIs expose normalized data for downstream consumption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32420"/>
            <a:ext cx="4667845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Getting Started: Local Development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23577" y="772790"/>
            <a:ext cx="4667845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 offers a developer-friendly and easy-to-set-up local environment, allowing you to quickly get started with development and testing.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577" y="1116509"/>
            <a:ext cx="466784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Quick Start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412974"/>
            <a:ext cx="88776" cy="887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23577" y="1507852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1000"/>
          </a:p>
        </p:txBody>
      </p:sp>
      <p:sp>
        <p:nvSpPr>
          <p:cNvPr id="8" name="Text 4"/>
          <p:cNvSpPr/>
          <p:nvPr/>
        </p:nvSpPr>
        <p:spPr>
          <a:xfrm>
            <a:off x="523577" y="1571253"/>
            <a:ext cx="4667845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Start Infrastructure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- Run docker-compose to spin up Elasticsearch, PostgreSQL, and other dependencies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832595"/>
            <a:ext cx="88776" cy="8877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23577" y="1936328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1000"/>
          </a:p>
        </p:txBody>
      </p:sp>
      <p:sp>
        <p:nvSpPr>
          <p:cNvPr id="11" name="Text 6"/>
          <p:cNvSpPr/>
          <p:nvPr/>
        </p:nvSpPr>
        <p:spPr>
          <a:xfrm>
            <a:off x="523577" y="2008584"/>
            <a:ext cx="4667845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Seed ELK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- Load sample log data into Elasticsearch for testing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252216"/>
            <a:ext cx="88776" cy="8877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23577" y="2364804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1000"/>
          </a:p>
        </p:txBody>
      </p:sp>
      <p:sp>
        <p:nvSpPr>
          <p:cNvPr id="14" name="Text 8"/>
          <p:cNvSpPr/>
          <p:nvPr/>
        </p:nvSpPr>
        <p:spPr>
          <a:xfrm>
            <a:off x="523577" y="2445916"/>
            <a:ext cx="4667845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Start All Services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- Launch all four services (UI, Core, AI Engine, Knowledge Service) together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2671837"/>
            <a:ext cx="88776" cy="8877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3577" y="2793281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1000"/>
          </a:p>
        </p:txBody>
      </p:sp>
      <p:sp>
        <p:nvSpPr>
          <p:cNvPr id="17" name="Text 10"/>
          <p:cNvSpPr/>
          <p:nvPr/>
        </p:nvSpPr>
        <p:spPr>
          <a:xfrm>
            <a:off x="523577" y="2883247"/>
            <a:ext cx="4667845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Run Individually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- Or start each service independently for development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523577" y="3142208"/>
            <a:ext cx="466784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Service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23577" y="3430265"/>
            <a:ext cx="4667845" cy="405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Engine: </a:t>
            </a:r>
            <a:r>
              <a:rPr lang="en-US" sz="10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uvicorn</a:t>
            </a:r>
            <a:endParaRPr lang="en-US" sz="10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&amp; Knowledge Service: </a:t>
            </a:r>
            <a:r>
              <a:rPr lang="en-US" sz="10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mvnw.cmd spring-boot:run</a:t>
            </a:r>
            <a:endParaRPr lang="en-US" sz="10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UI: </a:t>
            </a:r>
            <a:r>
              <a:rPr lang="en-US" sz="10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23577" y="3914626"/>
            <a:ext cx="466784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Repository Structure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23577" y="4202683"/>
            <a:ext cx="4667845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sentinelai-ui/ — React frontend</a:t>
            </a:r>
            <a:endParaRPr lang="en-US" sz="10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SentinelAI-Core/ — Spring Boot orchestrator</a:t>
            </a:r>
            <a:endParaRPr lang="en-US" sz="10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SentinelAI-Engine/ — Python FastAPI gateway</a:t>
            </a:r>
            <a:endParaRPr lang="en-US" sz="10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SentinelAI-Knowledge-Service/ — Spring Boot metadata service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4308356-43C4-62F0-C403-F76A955B0882}"/>
              </a:ext>
            </a:extLst>
          </p:cNvPr>
          <p:cNvSpPr/>
          <p:nvPr/>
        </p:nvSpPr>
        <p:spPr>
          <a:xfrm>
            <a:off x="496119" y="714226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SentinelAI as the central AI brain for production operations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A9B7D0-FE43-C9A2-18CC-40A6E307140D}"/>
              </a:ext>
            </a:extLst>
          </p:cNvPr>
          <p:cNvSpPr/>
          <p:nvPr/>
        </p:nvSpPr>
        <p:spPr>
          <a:xfrm>
            <a:off x="496119" y="877119"/>
            <a:ext cx="8151763" cy="9525"/>
          </a:xfrm>
          <a:prstGeom prst="roundRect">
            <a:avLst>
              <a:gd name="adj" fmla="val 60000"/>
            </a:avLst>
          </a:prstGeom>
          <a:solidFill>
            <a:srgbClr val="403011">
              <a:alpha val="50000"/>
            </a:srgbClr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55C009-2ADB-7867-B6D7-7208AC8612E2}"/>
              </a:ext>
            </a:extLst>
          </p:cNvPr>
          <p:cNvSpPr/>
          <p:nvPr/>
        </p:nvSpPr>
        <p:spPr>
          <a:xfrm>
            <a:off x="496119" y="96954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The On-Call Experience — with SentinelAI Fully Realised</a:t>
            </a:r>
            <a:endParaRPr lang="en-US" sz="12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2C2E36-B86E-0158-5532-D3D448868F30}"/>
              </a:ext>
            </a:extLst>
          </p:cNvPr>
          <p:cNvSpPr/>
          <p:nvPr/>
        </p:nvSpPr>
        <p:spPr>
          <a:xfrm>
            <a:off x="496119" y="1226939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F1FFA5-8268-A9A4-8266-3E27E392CCCF}"/>
              </a:ext>
            </a:extLst>
          </p:cNvPr>
          <p:cNvSpPr/>
          <p:nvPr/>
        </p:nvSpPr>
        <p:spPr>
          <a:xfrm>
            <a:off x="496119" y="1349127"/>
            <a:ext cx="4054673" cy="9525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2F8C97-EEA2-856A-DB20-8C826088CB2B}"/>
              </a:ext>
            </a:extLst>
          </p:cNvPr>
          <p:cNvSpPr/>
          <p:nvPr/>
        </p:nvSpPr>
        <p:spPr>
          <a:xfrm>
            <a:off x="496119" y="1406872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🚨</a:t>
            </a: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Alert fires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DE0C4FA-F23C-6D6F-E80A-34C363AEA34B}"/>
              </a:ext>
            </a:extLst>
          </p:cNvPr>
          <p:cNvSpPr/>
          <p:nvPr/>
        </p:nvSpPr>
        <p:spPr>
          <a:xfrm>
            <a:off x="496119" y="1553319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PagerDuty/alerting triggers. Agent receives context.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1824A6-5893-BC65-057E-96C32D488B0C}"/>
              </a:ext>
            </a:extLst>
          </p:cNvPr>
          <p:cNvSpPr/>
          <p:nvPr/>
        </p:nvSpPr>
        <p:spPr>
          <a:xfrm>
            <a:off x="4593134" y="1226939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17346B-578A-2F6C-A7B7-B9BC0A7C53F9}"/>
              </a:ext>
            </a:extLst>
          </p:cNvPr>
          <p:cNvSpPr/>
          <p:nvPr/>
        </p:nvSpPr>
        <p:spPr>
          <a:xfrm>
            <a:off x="4593134" y="1349127"/>
            <a:ext cx="4054748" cy="9525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93F4C3B-67EE-3A60-D5D9-56EFB5D09E6B}"/>
              </a:ext>
            </a:extLst>
          </p:cNvPr>
          <p:cNvSpPr/>
          <p:nvPr/>
        </p:nvSpPr>
        <p:spPr>
          <a:xfrm>
            <a:off x="4593134" y="1406872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reasons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709B36-F44D-944D-13A2-F91A9E665D55}"/>
              </a:ext>
            </a:extLst>
          </p:cNvPr>
          <p:cNvSpPr/>
          <p:nvPr/>
        </p:nvSpPr>
        <p:spPr>
          <a:xfrm>
            <a:off x="4593134" y="1553319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Understands goal: 'investigate payment service degradation'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9C79880-5CC9-1CD6-B44C-CD6961ECFBBF}"/>
              </a:ext>
            </a:extLst>
          </p:cNvPr>
          <p:cNvSpPr/>
          <p:nvPr/>
        </p:nvSpPr>
        <p:spPr>
          <a:xfrm>
            <a:off x="496119" y="1749698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666C84B-DDBE-7565-C9CC-6F801180E3DA}"/>
              </a:ext>
            </a:extLst>
          </p:cNvPr>
          <p:cNvSpPr/>
          <p:nvPr/>
        </p:nvSpPr>
        <p:spPr>
          <a:xfrm>
            <a:off x="496119" y="1871886"/>
            <a:ext cx="4054673" cy="9525"/>
          </a:xfrm>
          <a:prstGeom prst="rect">
            <a:avLst/>
          </a:prstGeom>
          <a:solidFill>
            <a:srgbClr val="E8AF3B"/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3B57A1F-EE5A-999E-74D2-53DCE60E297E}"/>
              </a:ext>
            </a:extLst>
          </p:cNvPr>
          <p:cNvSpPr/>
          <p:nvPr/>
        </p:nvSpPr>
        <p:spPr>
          <a:xfrm>
            <a:off x="496119" y="1929631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queries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95C416-0786-54AE-BD80-CDF95070E1A5}"/>
              </a:ext>
            </a:extLst>
          </p:cNvPr>
          <p:cNvSpPr/>
          <p:nvPr/>
        </p:nvSpPr>
        <p:spPr>
          <a:xfrm>
            <a:off x="496119" y="2076078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Calls ELK · Kafka · deployment history · incident KB — all auto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F586413-A115-049A-D2C8-A9475520532B}"/>
              </a:ext>
            </a:extLst>
          </p:cNvPr>
          <p:cNvSpPr/>
          <p:nvPr/>
        </p:nvSpPr>
        <p:spPr>
          <a:xfrm>
            <a:off x="4593134" y="1749698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A285762-0EDA-111D-99C3-4605549994F2}"/>
              </a:ext>
            </a:extLst>
          </p:cNvPr>
          <p:cNvSpPr/>
          <p:nvPr/>
        </p:nvSpPr>
        <p:spPr>
          <a:xfrm>
            <a:off x="4593134" y="1871886"/>
            <a:ext cx="4054748" cy="9525"/>
          </a:xfrm>
          <a:prstGeom prst="rect">
            <a:avLst/>
          </a:prstGeom>
          <a:solidFill>
            <a:srgbClr val="CC914D"/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48979FB-FE16-BAC6-4100-E28ED10A753A}"/>
              </a:ext>
            </a:extLst>
          </p:cNvPr>
          <p:cNvSpPr/>
          <p:nvPr/>
        </p:nvSpPr>
        <p:spPr>
          <a:xfrm>
            <a:off x="4593134" y="1929631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📝</a:t>
            </a: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correlates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F1E960-7514-83BC-B5BB-14D283A67550}"/>
              </a:ext>
            </a:extLst>
          </p:cNvPr>
          <p:cNvSpPr/>
          <p:nvPr/>
        </p:nvSpPr>
        <p:spPr>
          <a:xfrm>
            <a:off x="4593134" y="2076078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Links deploy v2.3.1 to error spike 18 min later via timeline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FD9EA79-2D39-8354-AC18-5F4CD3BAD884}"/>
              </a:ext>
            </a:extLst>
          </p:cNvPr>
          <p:cNvSpPr/>
          <p:nvPr/>
        </p:nvSpPr>
        <p:spPr>
          <a:xfrm>
            <a:off x="496119" y="2272457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7D70978-B1BE-1EFD-8FF7-81DEC48E06D3}"/>
              </a:ext>
            </a:extLst>
          </p:cNvPr>
          <p:cNvSpPr/>
          <p:nvPr/>
        </p:nvSpPr>
        <p:spPr>
          <a:xfrm>
            <a:off x="496119" y="2394645"/>
            <a:ext cx="4054673" cy="9525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ECB911-9B98-DB2B-169B-FEE7E4C449B9}"/>
              </a:ext>
            </a:extLst>
          </p:cNvPr>
          <p:cNvSpPr/>
          <p:nvPr/>
        </p:nvSpPr>
        <p:spPr>
          <a:xfrm>
            <a:off x="496119" y="2452390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drafts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9CE61AE-20C7-260A-69AE-CF17215242FC}"/>
              </a:ext>
            </a:extLst>
          </p:cNvPr>
          <p:cNvSpPr/>
          <p:nvPr/>
        </p:nvSpPr>
        <p:spPr>
          <a:xfrm>
            <a:off x="496119" y="2598837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Prepares RCA, runbook + Jira ticket draft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2E90717-857C-00A4-7603-53BE6B843611}"/>
              </a:ext>
            </a:extLst>
          </p:cNvPr>
          <p:cNvSpPr/>
          <p:nvPr/>
        </p:nvSpPr>
        <p:spPr>
          <a:xfrm>
            <a:off x="4593134" y="2272457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06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7EED6DD-7E79-7BEC-9216-52E0A5D53F9E}"/>
              </a:ext>
            </a:extLst>
          </p:cNvPr>
          <p:cNvSpPr/>
          <p:nvPr/>
        </p:nvSpPr>
        <p:spPr>
          <a:xfrm>
            <a:off x="4593134" y="2394645"/>
            <a:ext cx="4054748" cy="9525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5CCE78E-2E73-41D1-2F7F-27E20EC6DD23}"/>
              </a:ext>
            </a:extLst>
          </p:cNvPr>
          <p:cNvSpPr/>
          <p:nvPr/>
        </p:nvSpPr>
        <p:spPr>
          <a:xfrm>
            <a:off x="4593134" y="2452390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Human approves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A22A55-39B6-2AC7-8D24-35A0F61BEA56}"/>
              </a:ext>
            </a:extLst>
          </p:cNvPr>
          <p:cNvSpPr/>
          <p:nvPr/>
        </p:nvSpPr>
        <p:spPr>
          <a:xfrm>
            <a:off x="4593134" y="2598837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On-call reviews in &lt; 2 min and resolves incident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AC6A282-C8CC-BC15-821C-D344B5473DCA}"/>
              </a:ext>
            </a:extLst>
          </p:cNvPr>
          <p:cNvSpPr/>
          <p:nvPr/>
        </p:nvSpPr>
        <p:spPr>
          <a:xfrm>
            <a:off x="496119" y="2816423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Why This Matters: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11DACD-065F-C98E-F628-6DD0C50C2009}"/>
              </a:ext>
            </a:extLst>
          </p:cNvPr>
          <p:cNvSpPr/>
          <p:nvPr/>
        </p:nvSpPr>
        <p:spPr>
          <a:xfrm>
            <a:off x="496119" y="3073822"/>
            <a:ext cx="8151763" cy="42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agent will reason over ELK, Kafka, deployments, releases and engineering knowledge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SentinelAI-Knowledge-Service becomes the memory layer for past incidents and change history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human approves in minutes while the agent drafts RCA, runbooks and Jira actions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This moves the platform from demo to an enterprise-ready operations copilot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9548C02-4448-70A1-7917-A2D869E61FCE}"/>
              </a:ext>
            </a:extLst>
          </p:cNvPr>
          <p:cNvSpPr/>
          <p:nvPr/>
        </p:nvSpPr>
        <p:spPr>
          <a:xfrm>
            <a:off x="496119" y="3565475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Capability Readiness: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B35276A-B190-2114-BB40-C8568F61AC39}"/>
              </a:ext>
            </a:extLst>
          </p:cNvPr>
          <p:cNvSpPr/>
          <p:nvPr/>
        </p:nvSpPr>
        <p:spPr>
          <a:xfrm>
            <a:off x="496119" y="3822874"/>
            <a:ext cx="8151763" cy="64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✅ Multi-step ReAct loop [designed]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✅ Tool registry [designed]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✅ ElkClient + RAG [built]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🔭 Kafka triggers [P2 roadmap]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🔭 OIDC / RBAC [P2 roadmap]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🔭 Feedback / LLMOps [P2 roadmap]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32AB8F5-C87F-6403-5137-EFE4DEC1AC92}"/>
              </a:ext>
            </a:extLst>
          </p:cNvPr>
          <p:cNvSpPr/>
          <p:nvPr/>
        </p:nvSpPr>
        <p:spPr>
          <a:xfrm>
            <a:off x="496119" y="4885819"/>
            <a:ext cx="8151763" cy="215057"/>
          </a:xfrm>
          <a:prstGeom prst="roundRect">
            <a:avLst>
              <a:gd name="adj" fmla="val 54076"/>
            </a:avLst>
          </a:prstGeom>
          <a:solidFill>
            <a:srgbClr val="EAEDDE"/>
          </a:solidFill>
          <a:ln/>
        </p:spPr>
        <p:txBody>
          <a:bodyPr/>
          <a:lstStyle/>
          <a:p>
            <a:endParaRPr lang="en-IN" sz="9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856A1CFB-F6B0-F8F5-6226-D380E6A8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4" y="4616872"/>
            <a:ext cx="96887" cy="77465"/>
          </a:xfrm>
          <a:prstGeom prst="rect">
            <a:avLst/>
          </a:prstGeom>
        </p:spPr>
      </p:pic>
      <p:sp>
        <p:nvSpPr>
          <p:cNvPr id="36" name="Text 33">
            <a:extLst>
              <a:ext uri="{FF2B5EF4-FFF2-40B4-BE49-F238E27FC236}">
                <a16:creationId xmlns:a16="http://schemas.microsoft.com/office/drawing/2014/main" id="{5B760F94-E12D-56D4-A43D-EEAAA093F823}"/>
              </a:ext>
            </a:extLst>
          </p:cNvPr>
          <p:cNvSpPr/>
          <p:nvPr/>
        </p:nvSpPr>
        <p:spPr>
          <a:xfrm>
            <a:off x="747936" y="4947508"/>
            <a:ext cx="8279681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components are either built or clearly designed. SentinelAI is not a demo — it is a foundation.</a:t>
            </a:r>
            <a:endParaRPr lang="en-US" sz="900" dirty="0">
              <a:latin typeface="Source Sans 3" panose="020B0604020202020204" charset="0"/>
            </a:endParaRPr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405BBB1A-7B5D-10CA-E1F2-C5EE2B7E8EAD}"/>
              </a:ext>
            </a:extLst>
          </p:cNvPr>
          <p:cNvSpPr/>
          <p:nvPr/>
        </p:nvSpPr>
        <p:spPr>
          <a:xfrm>
            <a:off x="496119" y="154045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Vision — Enterprise AI SRE Copilot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550" dirty="0"/>
          </a:p>
        </p:txBody>
      </p:sp>
    </p:spTree>
    <p:extLst>
      <p:ext uri="{BB962C8B-B14F-4D97-AF65-F5344CB8AC3E}">
        <p14:creationId xmlns:p14="http://schemas.microsoft.com/office/powerpoint/2010/main" val="2457499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74315"/>
            <a:ext cx="4667845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 Steps &amp; Call to Action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523577" y="724867"/>
            <a:ext cx="466784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577" y="975196"/>
            <a:ext cx="466784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SentinelAI represents a strategic investment in incident management excellence. By combining AI-powered analysis with engineering context, we can significantly reduce MTTR, improve RCA quality, and free up engineering resources for prevention and innovation.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3132" y="1463673"/>
            <a:ext cx="466784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We're Asking For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525116"/>
            <a:ext cx="79474" cy="7947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3577" y="1609055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9" name="Text 5"/>
          <p:cNvSpPr/>
          <p:nvPr/>
        </p:nvSpPr>
        <p:spPr>
          <a:xfrm>
            <a:off x="523577" y="1667842"/>
            <a:ext cx="466784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Approval to continue development and refinement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892722"/>
            <a:ext cx="79474" cy="7947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23577" y="1984623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12" name="Text 7"/>
          <p:cNvSpPr/>
          <p:nvPr/>
        </p:nvSpPr>
        <p:spPr>
          <a:xfrm>
            <a:off x="523577" y="2051298"/>
            <a:ext cx="466784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Resources for production deployment and integration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260327"/>
            <a:ext cx="79474" cy="7947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3577" y="2360116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15" name="Text 9"/>
          <p:cNvSpPr/>
          <p:nvPr/>
        </p:nvSpPr>
        <p:spPr>
          <a:xfrm>
            <a:off x="523577" y="2434754"/>
            <a:ext cx="466784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Cross-team collaboration for knowledge service integration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2627933"/>
            <a:ext cx="79474" cy="7947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23577" y="2735684"/>
            <a:ext cx="4667845" cy="9525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18" name="Text 11"/>
          <p:cNvSpPr/>
          <p:nvPr/>
        </p:nvSpPr>
        <p:spPr>
          <a:xfrm>
            <a:off x="523577" y="2818209"/>
            <a:ext cx="466784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Feedback from engineering teams on priorities and use cases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523577" y="3038475"/>
            <a:ext cx="466784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Timeline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83183" y="3257104"/>
            <a:ext cx="9525" cy="969318"/>
          </a:xfrm>
          <a:prstGeom prst="roundRect">
            <a:avLst>
              <a:gd name="adj" fmla="val 12516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21" name="Shape 14"/>
          <p:cNvSpPr/>
          <p:nvPr/>
        </p:nvSpPr>
        <p:spPr>
          <a:xfrm>
            <a:off x="573658" y="3341712"/>
            <a:ext cx="158948" cy="9525"/>
          </a:xfrm>
          <a:prstGeom prst="roundRect">
            <a:avLst>
              <a:gd name="adj" fmla="val 12516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22" name="Shape 15"/>
          <p:cNvSpPr/>
          <p:nvPr/>
        </p:nvSpPr>
        <p:spPr>
          <a:xfrm>
            <a:off x="553380" y="3316672"/>
            <a:ext cx="59606" cy="59606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23" name="Text 16"/>
          <p:cNvSpPr/>
          <p:nvPr/>
        </p:nvSpPr>
        <p:spPr>
          <a:xfrm>
            <a:off x="901080" y="3316114"/>
            <a:ext cx="4290343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1 (Immediate)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901080" y="3458319"/>
            <a:ext cx="429034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Production deployment and team onboarding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73658" y="3692947"/>
            <a:ext cx="158948" cy="9525"/>
          </a:xfrm>
          <a:prstGeom prst="roundRect">
            <a:avLst>
              <a:gd name="adj" fmla="val 12516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26" name="Shape 19"/>
          <p:cNvSpPr/>
          <p:nvPr/>
        </p:nvSpPr>
        <p:spPr>
          <a:xfrm>
            <a:off x="553380" y="3667906"/>
            <a:ext cx="59606" cy="59606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27" name="Text 20"/>
          <p:cNvSpPr/>
          <p:nvPr/>
        </p:nvSpPr>
        <p:spPr>
          <a:xfrm>
            <a:off x="901080" y="3667348"/>
            <a:ext cx="4290343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2 (Q3)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901080" y="3809554"/>
            <a:ext cx="429034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integrations and automation workflows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73658" y="4044181"/>
            <a:ext cx="158948" cy="9525"/>
          </a:xfrm>
          <a:prstGeom prst="roundRect">
            <a:avLst>
              <a:gd name="adj" fmla="val 12516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30" name="Shape 23"/>
          <p:cNvSpPr/>
          <p:nvPr/>
        </p:nvSpPr>
        <p:spPr>
          <a:xfrm>
            <a:off x="553380" y="4019141"/>
            <a:ext cx="59606" cy="59606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sz="900"/>
          </a:p>
        </p:txBody>
      </p:sp>
      <p:sp>
        <p:nvSpPr>
          <p:cNvPr id="31" name="Text 24"/>
          <p:cNvSpPr/>
          <p:nvPr/>
        </p:nvSpPr>
        <p:spPr>
          <a:xfrm>
            <a:off x="901080" y="4018583"/>
            <a:ext cx="4290343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3 (Q4)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901080" y="4160788"/>
            <a:ext cx="429034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Enterprise-grade monitoring and analytics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1638</Words>
  <Application>Microsoft Office PowerPoint</Application>
  <PresentationFormat>On-screen Show (16:9)</PresentationFormat>
  <Paragraphs>236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Source Sans 3 Bold</vt:lpstr>
      <vt:lpstr>Arial</vt:lpstr>
      <vt:lpstr>Lora</vt:lpstr>
      <vt:lpstr>Source Sans 3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Praveen Deshmukh</cp:lastModifiedBy>
  <cp:revision>22</cp:revision>
  <dcterms:created xsi:type="dcterms:W3CDTF">2026-07-20T10:16:25Z</dcterms:created>
  <dcterms:modified xsi:type="dcterms:W3CDTF">2026-07-20T11:21:25Z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2026-07-20T10:27:33Z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d5f90d56-3c2b-40aa-9fff-0a0ba948e752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