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9" r:id="rId11"/>
    <p:sldId id="263" r:id="rId12"/>
    <p:sldId id="264" r:id="rId13"/>
    <p:sldId id="265" r:id="rId14"/>
    <p:sldId id="270" r:id="rId1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Lora" pitchFamily="2" charset="0"/>
      <p:regular r:id="rId21"/>
      <p:bold r:id="rId22"/>
      <p:italic r:id="rId23"/>
      <p:boldItalic r:id="rId24"/>
    </p:embeddedFont>
    <p:embeddedFont>
      <p:font typeface="Source Sans 3" panose="020B0604020202020204" charset="0"/>
      <p:regular r:id="rId25"/>
    </p:embeddedFont>
    <p:embeddedFont>
      <p:font typeface="Source Sans 3 Bold" panose="020B060402020202020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1DD6"/>
    <a:srgbClr val="C745BE"/>
    <a:srgbClr val="A76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305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8265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SentinelAI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347020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AI-assisted incident investigation platform that combines log analysis, live observability queries, and engineering context to help teams understand incidents faster and produce structured RCA output.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233440"/>
            <a:ext cx="1465213" cy="227335"/>
          </a:xfrm>
          <a:prstGeom prst="roundRect">
            <a:avLst>
              <a:gd name="adj" fmla="val 7897"/>
            </a:avLst>
          </a:prstGeom>
          <a:solidFill>
            <a:srgbClr val="4904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13321" y="3278312"/>
            <a:ext cx="1742926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INCIDENT INVESTIGATION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63576" y="3233440"/>
            <a:ext cx="821457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153320" y="3278312"/>
            <a:ext cx="109917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59819" y="3233440"/>
            <a:ext cx="1083766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049563" y="3278312"/>
            <a:ext cx="1361480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RCA AUTOMATION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3B24A7F-4945-7499-3544-B1D64689A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0"/>
            <a:ext cx="3676650" cy="51435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74360FB-C83F-A4B8-E901-244DB6D56802}"/>
              </a:ext>
            </a:extLst>
          </p:cNvPr>
          <p:cNvSpPr/>
          <p:nvPr/>
        </p:nvSpPr>
        <p:spPr>
          <a:xfrm>
            <a:off x="496119" y="1175296"/>
            <a:ext cx="229195" cy="229195"/>
          </a:xfrm>
          <a:prstGeom prst="ellipse">
            <a:avLst/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327FB4-E578-7E4D-9B50-FEBCB534BA71}"/>
              </a:ext>
            </a:extLst>
          </p:cNvPr>
          <p:cNvSpPr/>
          <p:nvPr/>
        </p:nvSpPr>
        <p:spPr>
          <a:xfrm>
            <a:off x="798537" y="1210270"/>
            <a:ext cx="442034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🐢</a:t>
            </a: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Slow &amp; Manual</a:t>
            </a:r>
            <a:endParaRPr lang="en-US" sz="10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BF2C08B-E7D6-6B88-FCB3-2DC490A0DD2A}"/>
              </a:ext>
            </a:extLst>
          </p:cNvPr>
          <p:cNvSpPr/>
          <p:nvPr/>
        </p:nvSpPr>
        <p:spPr>
          <a:xfrm>
            <a:off x="798537" y="1413421"/>
            <a:ext cx="442034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Engineers manually grep logs, craft Kibana DSL queries, and correlate timestamps across multiple browser tabs — for every incident.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5B43611-8240-CD8A-B723-32707D0DADFA}"/>
              </a:ext>
            </a:extLst>
          </p:cNvPr>
          <p:cNvSpPr/>
          <p:nvPr/>
        </p:nvSpPr>
        <p:spPr>
          <a:xfrm>
            <a:off x="496119" y="1839962"/>
            <a:ext cx="229195" cy="229195"/>
          </a:xfrm>
          <a:prstGeom prst="ellipse">
            <a:avLst/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92E0BC2-0834-38FF-26C8-CE0F51677670}"/>
              </a:ext>
            </a:extLst>
          </p:cNvPr>
          <p:cNvSpPr/>
          <p:nvPr/>
        </p:nvSpPr>
        <p:spPr>
          <a:xfrm>
            <a:off x="798537" y="1874937"/>
            <a:ext cx="442034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🔁</a:t>
            </a: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Repetitive Work</a:t>
            </a:r>
            <a:endParaRPr lang="en-US" sz="10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AD8D6D-EA27-3248-895D-7360F0EE0080}"/>
              </a:ext>
            </a:extLst>
          </p:cNvPr>
          <p:cNvSpPr/>
          <p:nvPr/>
        </p:nvSpPr>
        <p:spPr>
          <a:xfrm>
            <a:off x="798537" y="2078087"/>
            <a:ext cx="442034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Similar failures are investigated from scratch every on-call rotation. No memory, no learning loop.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9D1883A-43B6-0193-56E6-1DDD8A5E919C}"/>
              </a:ext>
            </a:extLst>
          </p:cNvPr>
          <p:cNvSpPr/>
          <p:nvPr/>
        </p:nvSpPr>
        <p:spPr>
          <a:xfrm>
            <a:off x="496119" y="2504629"/>
            <a:ext cx="229195" cy="229195"/>
          </a:xfrm>
          <a:prstGeom prst="ellipse">
            <a:avLst/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64AAA78-3844-39AB-5474-766B02012A4E}"/>
              </a:ext>
            </a:extLst>
          </p:cNvPr>
          <p:cNvSpPr/>
          <p:nvPr/>
        </p:nvSpPr>
        <p:spPr>
          <a:xfrm>
            <a:off x="798537" y="2539603"/>
            <a:ext cx="442034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🧩</a:t>
            </a: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Knowledge Silos</a:t>
            </a:r>
            <a:endParaRPr lang="en-US" sz="10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E980C8C-FE31-82C8-496E-943E96835493}"/>
              </a:ext>
            </a:extLst>
          </p:cNvPr>
          <p:cNvSpPr/>
          <p:nvPr/>
        </p:nvSpPr>
        <p:spPr>
          <a:xfrm>
            <a:off x="798537" y="2742754"/>
            <a:ext cx="442034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Senior engineers carry tribal knowledge. Junior engineers struggle with ELK/Kafka query syntax and miss key signals.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6D048B1-8A26-C3D0-599A-4749FBF10106}"/>
              </a:ext>
            </a:extLst>
          </p:cNvPr>
          <p:cNvSpPr/>
          <p:nvPr/>
        </p:nvSpPr>
        <p:spPr>
          <a:xfrm>
            <a:off x="496119" y="3169295"/>
            <a:ext cx="229195" cy="229195"/>
          </a:xfrm>
          <a:prstGeom prst="ellipse">
            <a:avLst/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F674CBB-BB8D-7351-369A-5B3F83178D1E}"/>
              </a:ext>
            </a:extLst>
          </p:cNvPr>
          <p:cNvSpPr/>
          <p:nvPr/>
        </p:nvSpPr>
        <p:spPr>
          <a:xfrm>
            <a:off x="798537" y="3204270"/>
            <a:ext cx="442034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📝</a:t>
            </a: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RCA Bottleneck</a:t>
            </a:r>
            <a:endParaRPr lang="en-US" sz="10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E59E848-80A9-88C6-ACC3-42C4709BE1CB}"/>
              </a:ext>
            </a:extLst>
          </p:cNvPr>
          <p:cNvSpPr/>
          <p:nvPr/>
        </p:nvSpPr>
        <p:spPr>
          <a:xfrm>
            <a:off x="798537" y="3407420"/>
            <a:ext cx="442034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Post-incident RCAs are written hours or days later, relying on fading memory — or skipped entirely under time pressure.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2631793-F57D-38C9-C327-FDFD6CB4654F}"/>
              </a:ext>
            </a:extLst>
          </p:cNvPr>
          <p:cNvSpPr/>
          <p:nvPr/>
        </p:nvSpPr>
        <p:spPr>
          <a:xfrm>
            <a:off x="496119" y="3833961"/>
            <a:ext cx="229195" cy="229195"/>
          </a:xfrm>
          <a:prstGeom prst="ellipse">
            <a:avLst/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E5F519B-B017-8165-767B-E433FB0FC31E}"/>
              </a:ext>
            </a:extLst>
          </p:cNvPr>
          <p:cNvSpPr/>
          <p:nvPr/>
        </p:nvSpPr>
        <p:spPr>
          <a:xfrm>
            <a:off x="798537" y="3868936"/>
            <a:ext cx="442034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0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No Pattern Reuse</a:t>
            </a:r>
            <a:endParaRPr lang="en-US" sz="10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EC5E79A-C9A7-2960-8AAC-CFBEFA7563D3}"/>
              </a:ext>
            </a:extLst>
          </p:cNvPr>
          <p:cNvSpPr/>
          <p:nvPr/>
        </p:nvSpPr>
        <p:spPr>
          <a:xfrm>
            <a:off x="798537" y="4072086"/>
            <a:ext cx="442034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Past incidents are not indexed or searchable. The same root causes recur because no institutional memory is built.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96AFACC-6AC1-ACA5-3B31-389DF456B30B}"/>
              </a:ext>
            </a:extLst>
          </p:cNvPr>
          <p:cNvSpPr/>
          <p:nvPr/>
        </p:nvSpPr>
        <p:spPr>
          <a:xfrm>
            <a:off x="496119" y="4434557"/>
            <a:ext cx="472276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Solution: We need an AI-assisted layer that turns raw observability data into summaries, hypotheses and recommended actions.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79FDD1C6-3A1B-39D3-8563-0D44B77E2DA4}"/>
              </a:ext>
            </a:extLst>
          </p:cNvPr>
          <p:cNvSpPr/>
          <p:nvPr/>
        </p:nvSpPr>
        <p:spPr>
          <a:xfrm>
            <a:off x="343719" y="297545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Current Pain Points in Incident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22953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6F80391-6DDF-EE43-064B-19674F31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6" y="0"/>
            <a:ext cx="9110514" cy="127917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E41E82D-4794-A5E2-1142-F31195229593}"/>
              </a:ext>
            </a:extLst>
          </p:cNvPr>
          <p:cNvSpPr/>
          <p:nvPr/>
        </p:nvSpPr>
        <p:spPr>
          <a:xfrm>
            <a:off x="496119" y="2118345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AIOps Theory: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00BC0DA-E7C8-64D6-9444-6FF9E03FD089}"/>
              </a:ext>
            </a:extLst>
          </p:cNvPr>
          <p:cNvSpPr/>
          <p:nvPr/>
        </p:nvSpPr>
        <p:spPr>
          <a:xfrm>
            <a:off x="496119" y="2325291"/>
            <a:ext cx="4042395" cy="375642"/>
          </a:xfrm>
          <a:prstGeom prst="roundRect">
            <a:avLst>
              <a:gd name="adj" fmla="val 38919"/>
            </a:avLst>
          </a:prstGeom>
          <a:solidFill>
            <a:srgbClr val="F6EBD4"/>
          </a:solidFill>
          <a:ln w="14288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650DD75-8B72-1CC2-3AA1-A2511497B183}"/>
              </a:ext>
            </a:extLst>
          </p:cNvPr>
          <p:cNvSpPr/>
          <p:nvPr/>
        </p:nvSpPr>
        <p:spPr>
          <a:xfrm>
            <a:off x="607814" y="2436986"/>
            <a:ext cx="381900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Observability data is raw signal, not insight</a:t>
            </a:r>
            <a:endParaRPr lang="en-US" sz="950" dirty="0">
              <a:latin typeface="Source Sans 3" panose="020B060402020202020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79E8CC9-2CAD-C008-F6BE-22D5D6634FCE}"/>
              </a:ext>
            </a:extLst>
          </p:cNvPr>
          <p:cNvSpPr/>
          <p:nvPr/>
        </p:nvSpPr>
        <p:spPr>
          <a:xfrm>
            <a:off x="4605486" y="2325291"/>
            <a:ext cx="4042395" cy="375642"/>
          </a:xfrm>
          <a:prstGeom prst="roundRect">
            <a:avLst>
              <a:gd name="adj" fmla="val 38919"/>
            </a:avLst>
          </a:prstGeom>
          <a:solidFill>
            <a:srgbClr val="F6EBD4"/>
          </a:solidFill>
          <a:ln w="14288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AE91957-B2CD-D408-134F-6D24F1A43C6C}"/>
              </a:ext>
            </a:extLst>
          </p:cNvPr>
          <p:cNvSpPr/>
          <p:nvPr/>
        </p:nvSpPr>
        <p:spPr>
          <a:xfrm>
            <a:off x="4717182" y="2436986"/>
            <a:ext cx="381900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SentinelAI adds memory, reasoning and live investigation</a:t>
            </a:r>
            <a:endParaRPr lang="en-US" sz="950" dirty="0">
              <a:latin typeface="Source Sans 3" panose="020B060402020202020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77FE9BF-CCA7-1E8E-74F5-3B95B705B8BD}"/>
              </a:ext>
            </a:extLst>
          </p:cNvPr>
          <p:cNvSpPr/>
          <p:nvPr/>
        </p:nvSpPr>
        <p:spPr>
          <a:xfrm>
            <a:off x="496119" y="2767905"/>
            <a:ext cx="4042395" cy="375642"/>
          </a:xfrm>
          <a:prstGeom prst="roundRect">
            <a:avLst>
              <a:gd name="adj" fmla="val 38919"/>
            </a:avLst>
          </a:prstGeom>
          <a:solidFill>
            <a:srgbClr val="F6EBD4"/>
          </a:solidFill>
          <a:ln w="14288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92BF96F-5A26-A94A-C083-4C6F852CD26C}"/>
              </a:ext>
            </a:extLst>
          </p:cNvPr>
          <p:cNvSpPr/>
          <p:nvPr/>
        </p:nvSpPr>
        <p:spPr>
          <a:xfrm>
            <a:off x="607814" y="2879601"/>
            <a:ext cx="381900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The platform turns logs into RCA, context and action</a:t>
            </a:r>
            <a:endParaRPr lang="en-US" sz="950" dirty="0">
              <a:latin typeface="Source Sans 3" panose="020B060402020202020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92EAA65-B22C-E655-B5D2-81ABD4C17F61}"/>
              </a:ext>
            </a:extLst>
          </p:cNvPr>
          <p:cNvSpPr/>
          <p:nvPr/>
        </p:nvSpPr>
        <p:spPr>
          <a:xfrm>
            <a:off x="4605486" y="2767905"/>
            <a:ext cx="4042395" cy="375642"/>
          </a:xfrm>
          <a:prstGeom prst="roundRect">
            <a:avLst>
              <a:gd name="adj" fmla="val 38919"/>
            </a:avLst>
          </a:prstGeom>
          <a:solidFill>
            <a:srgbClr val="F6EBD4"/>
          </a:solidFill>
          <a:ln w="14288">
            <a:solidFill>
              <a:srgbClr val="CC914D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5C12A3A-C4CC-A2C5-4341-8FEA757A48DE}"/>
              </a:ext>
            </a:extLst>
          </p:cNvPr>
          <p:cNvSpPr/>
          <p:nvPr/>
        </p:nvSpPr>
        <p:spPr>
          <a:xfrm>
            <a:off x="4717182" y="2879601"/>
            <a:ext cx="3819004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Knowledge Service makes each incident reusable for the next one</a:t>
            </a:r>
            <a:endParaRPr lang="en-US" sz="95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5877053-92C1-D1D2-9C8F-064C72BA3FB2}"/>
              </a:ext>
            </a:extLst>
          </p:cNvPr>
          <p:cNvSpPr/>
          <p:nvPr/>
        </p:nvSpPr>
        <p:spPr>
          <a:xfrm>
            <a:off x="496119" y="3218929"/>
            <a:ext cx="8151763" cy="142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Challenge: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0" indent="0" algn="l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On-call engineers spend 40–60% of incident response time manually querying ELK, correlating signals and writing RCAs.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0" indent="0" algn="l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Market Momentum: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0" indent="0" algn="l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Major vendors — Datadog, Dynatrace, New Relic, AWS — are racing to embed AI copilots into observability platforms. Early adopters report 30–50% reduction in mean-time-to-resolve (MTTR) with AI-assisted triage.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0" indent="0" algn="l">
              <a:lnSpc>
                <a:spcPct val="113000"/>
              </a:lnSpc>
              <a:spcAft>
                <a:spcPts val="550"/>
              </a:spcAft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Why SentinelAI: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Build this capability on our own stack, own the IP, demonstrate it to clients. Distributed, cloud-native systems generate millions of log events every hour. The question is not whether to add AI to observability — it is how quickly we can build it and how well we make it work.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4CFE89C9-FED6-1FB9-9C2A-08C29B0A3689}"/>
              </a:ext>
            </a:extLst>
          </p:cNvPr>
          <p:cNvSpPr/>
          <p:nvPr/>
        </p:nvSpPr>
        <p:spPr>
          <a:xfrm>
            <a:off x="496119" y="1478756"/>
            <a:ext cx="725342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an AI Layer on Top of Observability?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  <p:extLst>
      <p:ext uri="{BB962C8B-B14F-4D97-AF65-F5344CB8AC3E}">
        <p14:creationId xmlns:p14="http://schemas.microsoft.com/office/powerpoint/2010/main" val="170862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at a Glance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731118"/>
            <a:ext cx="3957191" cy="3957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7994" y="2083430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 Runnable Parts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667994" y="2397509"/>
            <a:ext cx="3957191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UI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React interface for RCA and ELK investigation</a:t>
            </a:r>
            <a:endParaRPr lang="en-US" sz="11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Spring Boot orchestration for RCA, log ingestion, and Elasticsearch</a:t>
            </a:r>
            <a:endParaRPr lang="en-US" sz="11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Engine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Python FastAPI routing to Groq, Ollama, HuggingFace,  OpenAI, </a:t>
            </a:r>
            <a:r>
              <a:rPr lang="en-US" sz="11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OpenRouter</a:t>
            </a:r>
            <a:endParaRPr lang="en-US" sz="11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Knowledge Service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Spring Boot microservice indexing GitHub, Jira, Confluence, and Jenkins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65981"/>
            <a:ext cx="4667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 RCA Workflow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1089199"/>
            <a:ext cx="712961" cy="855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01419" y="1231776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801419" y="1522884"/>
            <a:ext cx="381900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Paste log text or upload a file from the UI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77" y="1944737"/>
            <a:ext cx="712961" cy="8555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01419" y="2087314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Process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801419" y="2378422"/>
            <a:ext cx="381900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content to Core via the RCA API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577" y="2800276"/>
            <a:ext cx="712961" cy="10217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01419" y="2942853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Output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801419" y="3233961"/>
            <a:ext cx="3819004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RCA with issue, root cause, impacted service, and recommended fix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577" y="3821981"/>
            <a:ext cx="712961" cy="8555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01419" y="3964558"/>
            <a:ext cx="381900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Enrich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4801419" y="4255666"/>
            <a:ext cx="3819004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Optionally add engineering context from the Knowledge Service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A23E47-6F38-93DC-7CAB-BD50B0B101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84644" y="-47881"/>
            <a:ext cx="3513644" cy="51913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6244"/>
            <a:ext cx="8096845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2" charset="0"/>
                <a:ea typeface="Lora" pitchFamily="34" charset="-122"/>
                <a:cs typeface="Lora" pitchFamily="34" charset="-120"/>
              </a:rPr>
              <a:t>Live ELK Investigation</a:t>
            </a:r>
            <a:endParaRPr lang="en-US" sz="2450" dirty="0">
              <a:latin typeface="Lora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8" y="1397719"/>
            <a:ext cx="4577812" cy="2917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9170" y="1132664"/>
            <a:ext cx="2622575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F98AC7"/>
                </a:solidFill>
                <a:latin typeface="Lora" pitchFamily="2" charset="0"/>
                <a:ea typeface="Lora" pitchFamily="34" charset="-122"/>
                <a:cs typeface="Lora" pitchFamily="34" charset="-120"/>
              </a:rPr>
              <a:t>How it works</a:t>
            </a:r>
            <a:endParaRPr lang="en-US" sz="1200" dirty="0">
              <a:latin typeface="Lor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226518" y="1429271"/>
            <a:ext cx="3398593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Query Elasticsearch directly from the UI using service, severity, and timeframe</a:t>
            </a:r>
            <a:endParaRPr lang="en-US" sz="1200" dirty="0">
              <a:latin typeface="Lora" pitchFamily="2" charset="0"/>
            </a:endParaRPr>
          </a:p>
          <a:p>
            <a:pPr marL="203200" indent="-2032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Retrieve recent logs, summarize them, and produce an AI-generated investigation result</a:t>
            </a:r>
            <a:endParaRPr lang="en-US" sz="1200" dirty="0">
              <a:latin typeface="Lora" pitchFamily="2" charset="0"/>
            </a:endParaRPr>
          </a:p>
          <a:p>
            <a:pPr marL="203200" indent="-203200" algn="l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Return suspicious log lines along with the likely root cause and recommended action</a:t>
            </a:r>
            <a:endParaRPr lang="en-US" sz="1200" dirty="0">
              <a:latin typeface="Lora" pitchFamily="2" charset="0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C7078E3-6FE2-E7B5-3520-DC27B7E1991A}"/>
              </a:ext>
            </a:extLst>
          </p:cNvPr>
          <p:cNvSpPr/>
          <p:nvPr/>
        </p:nvSpPr>
        <p:spPr>
          <a:xfrm>
            <a:off x="5419170" y="2963214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F98AC7"/>
                </a:solidFill>
                <a:latin typeface="Lora" pitchFamily="2" charset="0"/>
                <a:ea typeface="Lora" pitchFamily="34" charset="-122"/>
                <a:cs typeface="Lora" pitchFamily="34" charset="-120"/>
              </a:rPr>
              <a:t>Response Fields</a:t>
            </a:r>
            <a:endParaRPr lang="en-US" sz="1200" dirty="0">
              <a:latin typeface="Lora" pitchFamily="2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73AFF44-C83F-619E-2525-6C0D9330C316}"/>
              </a:ext>
            </a:extLst>
          </p:cNvPr>
          <p:cNvSpPr/>
          <p:nvPr/>
        </p:nvSpPr>
        <p:spPr>
          <a:xfrm>
            <a:off x="5226518" y="3186950"/>
            <a:ext cx="3922171" cy="14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summary — AI one-paragraph incident summary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probableRootCause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 — Most likely cause with log evidence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impactedService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 — Service(s) affected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recommendedAction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 — Suggested remediation steps</a:t>
            </a:r>
          </a:p>
          <a:p>
            <a:pPr marL="203200" indent="-203200">
              <a:lnSpc>
                <a:spcPct val="126000"/>
              </a:lnSpc>
              <a:buSzPct val="100000"/>
              <a:buChar char="•"/>
            </a:pPr>
            <a:r>
              <a:rPr lang="en-US" sz="1200" dirty="0" err="1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suspiciousLogs</a:t>
            </a:r>
            <a:r>
              <a:rPr lang="en-US" sz="1200" dirty="0">
                <a:solidFill>
                  <a:srgbClr val="D6E5EF"/>
                </a:solidFill>
                <a:latin typeface="Lora" pitchFamily="2" charset="0"/>
                <a:ea typeface="Source Sans 3" pitchFamily="34" charset="-122"/>
                <a:cs typeface="Source Sans 3" pitchFamily="34" charset="-120"/>
              </a:rPr>
              <a:t>[] — Specific log lines flagged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879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Semantic Retrieval &amp; Incident Memory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218025"/>
            <a:ext cx="3973637" cy="1125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8400" y="1386647"/>
            <a:ext cx="35601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 Incidents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8400" y="1696359"/>
            <a:ext cx="35601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 incidents and optionally create embeddings for semantic retrieval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6786" y="1218025"/>
            <a:ext cx="3973637" cy="11257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91608" y="1386647"/>
            <a:ext cx="35601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Natural-Language Search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91608" y="1696359"/>
            <a:ext cx="35601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stored incidents using natural-language queries when embeddings are enabled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3577" y="4254184"/>
            <a:ext cx="8096845" cy="612577"/>
          </a:xfrm>
          <a:prstGeom prst="roundRect">
            <a:avLst>
              <a:gd name="adj" fmla="val 3664"/>
            </a:avLst>
          </a:prstGeom>
          <a:solidFill>
            <a:srgbClr val="79064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50" y="4472143"/>
            <a:ext cx="187003" cy="1495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9724" y="4441112"/>
            <a:ext cx="7918326" cy="253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Postgres/pgvector is used for embedding storage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F58721-ECEC-0ABA-99D3-003F588FA2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348" y="2512383"/>
            <a:ext cx="3810532" cy="14956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491654"/>
            <a:ext cx="4667845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Engineering Knowledge Enrichment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523577" y="1394073"/>
            <a:ext cx="330279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9784" y="1520279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Source Sync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49784" y="1769790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Sync metadata from GitHub, Jira, Confluence, and Jenkins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23577" y="2188592"/>
            <a:ext cx="330279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9784" y="2314798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Webhook Ingestion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9784" y="2564309"/>
            <a:ext cx="4415433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Ingest real-time webhook events from those systems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3577" y="2983111"/>
            <a:ext cx="3302795" cy="688032"/>
          </a:xfrm>
          <a:prstGeom prst="roundRect">
            <a:avLst>
              <a:gd name="adj" fmla="val 2752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49784" y="3109317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Context APIs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784" y="3294980"/>
            <a:ext cx="3114497" cy="249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Expose timeline, relationship, repository, deployment, release,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Jira search APIs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23577" y="3777630"/>
            <a:ext cx="3302795" cy="874142"/>
          </a:xfrm>
          <a:prstGeom prst="roundRect">
            <a:avLst>
              <a:gd name="adj" fmla="val 2166"/>
            </a:avLst>
          </a:prstGeom>
          <a:solidFill>
            <a:srgbClr val="4447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9784" y="3903836"/>
            <a:ext cx="4415433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Normalized Index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9785" y="4153346"/>
            <a:ext cx="3114496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normalized engineering knowledge index without </a:t>
            </a:r>
          </a:p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performing AI reasoning itself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E424EF-5A98-29A9-D70A-1805D82CD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488" y="838438"/>
            <a:ext cx="5253512" cy="3777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F1A5BA8-5336-71F2-158D-7F8724A79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384B842-2E06-8A72-7CEE-F4C01E8830FE}"/>
              </a:ext>
            </a:extLst>
          </p:cNvPr>
          <p:cNvSpPr/>
          <p:nvPr/>
        </p:nvSpPr>
        <p:spPr>
          <a:xfrm>
            <a:off x="496119" y="747713"/>
            <a:ext cx="860896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Swap LLM providers with a single config change — no Core code changes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AA8875-C0E6-5E8C-D376-8523D4283D54}"/>
              </a:ext>
            </a:extLst>
          </p:cNvPr>
          <p:cNvSpPr/>
          <p:nvPr/>
        </p:nvSpPr>
        <p:spPr>
          <a:xfrm>
            <a:off x="496119" y="904429"/>
            <a:ext cx="4052218" cy="793179"/>
          </a:xfrm>
          <a:prstGeom prst="roundRect">
            <a:avLst>
              <a:gd name="adj" fmla="val 15500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CA232A-F6F0-0053-893D-23F257FDC410}"/>
              </a:ext>
            </a:extLst>
          </p:cNvPr>
          <p:cNvSpPr/>
          <p:nvPr/>
        </p:nvSpPr>
        <p:spPr>
          <a:xfrm>
            <a:off x="582811" y="991121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 err="1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Groq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203CE4-E349-DD23-1A17-E5947069617F}"/>
              </a:ext>
            </a:extLst>
          </p:cNvPr>
          <p:cNvSpPr/>
          <p:nvPr/>
        </p:nvSpPr>
        <p:spPr>
          <a:xfrm>
            <a:off x="582811" y="1147614"/>
            <a:ext cx="3878833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Cloud inference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~3 s latency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Llama 3.3 70B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Default provider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0E6E90-6602-C580-7F37-736C11D8DCE2}"/>
              </a:ext>
            </a:extLst>
          </p:cNvPr>
          <p:cNvSpPr/>
          <p:nvPr/>
        </p:nvSpPr>
        <p:spPr>
          <a:xfrm>
            <a:off x="4595664" y="904429"/>
            <a:ext cx="4052218" cy="793179"/>
          </a:xfrm>
          <a:prstGeom prst="roundRect">
            <a:avLst>
              <a:gd name="adj" fmla="val 15500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C7B138-DF7C-22D0-EA65-9ABEA5DEAE31}"/>
              </a:ext>
            </a:extLst>
          </p:cNvPr>
          <p:cNvSpPr/>
          <p:nvPr/>
        </p:nvSpPr>
        <p:spPr>
          <a:xfrm>
            <a:off x="4682356" y="991121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Ollama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46C307-2A11-69A9-D5E5-C32D511552FF}"/>
              </a:ext>
            </a:extLst>
          </p:cNvPr>
          <p:cNvSpPr/>
          <p:nvPr/>
        </p:nvSpPr>
        <p:spPr>
          <a:xfrm>
            <a:off x="4682356" y="1147614"/>
            <a:ext cx="3878833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Fully local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Data residency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No API keys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Local dev &amp; PoC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24AE7F8-9E2A-6B37-116E-F15BBEB2DAB3}"/>
              </a:ext>
            </a:extLst>
          </p:cNvPr>
          <p:cNvSpPr/>
          <p:nvPr/>
        </p:nvSpPr>
        <p:spPr>
          <a:xfrm>
            <a:off x="496119" y="1744935"/>
            <a:ext cx="4052218" cy="793179"/>
          </a:xfrm>
          <a:prstGeom prst="roundRect">
            <a:avLst>
              <a:gd name="adj" fmla="val 15500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D42CBCA-D9DC-4E29-8C3B-6BF60FF42DFC}"/>
              </a:ext>
            </a:extLst>
          </p:cNvPr>
          <p:cNvSpPr/>
          <p:nvPr/>
        </p:nvSpPr>
        <p:spPr>
          <a:xfrm>
            <a:off x="582811" y="1831628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OpenAI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689EB0F-978D-9308-307E-0763F6D99435}"/>
              </a:ext>
            </a:extLst>
          </p:cNvPr>
          <p:cNvSpPr/>
          <p:nvPr/>
        </p:nvSpPr>
        <p:spPr>
          <a:xfrm>
            <a:off x="582811" y="1988121"/>
            <a:ext cx="3878833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GPT-4o / 4.1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Azure OpenAI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Enterprise grade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High accuracy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E9FCE9-543E-4569-1CC6-9D701C604409}"/>
              </a:ext>
            </a:extLst>
          </p:cNvPr>
          <p:cNvSpPr/>
          <p:nvPr/>
        </p:nvSpPr>
        <p:spPr>
          <a:xfrm>
            <a:off x="4595664" y="1744935"/>
            <a:ext cx="4052218" cy="793179"/>
          </a:xfrm>
          <a:prstGeom prst="roundRect">
            <a:avLst>
              <a:gd name="adj" fmla="val 15500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586076D-9DE2-7FA7-440D-9A5459250AB6}"/>
              </a:ext>
            </a:extLst>
          </p:cNvPr>
          <p:cNvSpPr/>
          <p:nvPr/>
        </p:nvSpPr>
        <p:spPr>
          <a:xfrm>
            <a:off x="4682356" y="1831628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HuggingFace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C39D61B-C991-E58C-2C76-A3FC78288DFD}"/>
              </a:ext>
            </a:extLst>
          </p:cNvPr>
          <p:cNvSpPr/>
          <p:nvPr/>
        </p:nvSpPr>
        <p:spPr>
          <a:xfrm>
            <a:off x="4682356" y="1988121"/>
            <a:ext cx="3878833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Open-source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Custom fine-tunes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Research use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Cost-efficient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099F14E-529B-8D3F-4778-E542FD7CD010}"/>
              </a:ext>
            </a:extLst>
          </p:cNvPr>
          <p:cNvSpPr/>
          <p:nvPr/>
        </p:nvSpPr>
        <p:spPr>
          <a:xfrm>
            <a:off x="496120" y="2585442"/>
            <a:ext cx="4052218" cy="793179"/>
          </a:xfrm>
          <a:prstGeom prst="roundRect">
            <a:avLst>
              <a:gd name="adj" fmla="val 15500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5A76775-23BE-BC08-DC33-0EC79FB909ED}"/>
              </a:ext>
            </a:extLst>
          </p:cNvPr>
          <p:cNvSpPr/>
          <p:nvPr/>
        </p:nvSpPr>
        <p:spPr>
          <a:xfrm>
            <a:off x="582811" y="2672135"/>
            <a:ext cx="797837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AWS Bedrock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EBAB818-70FF-4FC2-9CBE-B5AEDBD17DF1}"/>
              </a:ext>
            </a:extLst>
          </p:cNvPr>
          <p:cNvSpPr/>
          <p:nvPr/>
        </p:nvSpPr>
        <p:spPr>
          <a:xfrm>
            <a:off x="582811" y="2828627"/>
            <a:ext cx="3965526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Claude / Titan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AWS-native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Enterprise security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Compliance ready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2C12A15-CB38-0F99-907E-C8507455CE1B}"/>
              </a:ext>
            </a:extLst>
          </p:cNvPr>
          <p:cNvSpPr/>
          <p:nvPr/>
        </p:nvSpPr>
        <p:spPr>
          <a:xfrm>
            <a:off x="496119" y="3449687"/>
            <a:ext cx="815176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Configuration (application.yaml):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F6A077F-9404-9052-E703-2B6D28FAF695}"/>
              </a:ext>
            </a:extLst>
          </p:cNvPr>
          <p:cNvSpPr/>
          <p:nvPr/>
        </p:nvSpPr>
        <p:spPr>
          <a:xfrm>
            <a:off x="496119" y="3648819"/>
            <a:ext cx="8151763" cy="577602"/>
          </a:xfrm>
          <a:prstGeom prst="roundRect">
            <a:avLst>
              <a:gd name="adj" fmla="val 21284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7810C97-52C1-0982-6788-0B99CF76E1FB}"/>
              </a:ext>
            </a:extLst>
          </p:cNvPr>
          <p:cNvSpPr/>
          <p:nvPr/>
        </p:nvSpPr>
        <p:spPr>
          <a:xfrm>
            <a:off x="492026" y="3648819"/>
            <a:ext cx="8159948" cy="577602"/>
          </a:xfrm>
          <a:prstGeom prst="roundRect">
            <a:avLst>
              <a:gd name="adj" fmla="val 2128"/>
            </a:avLst>
          </a:prstGeom>
          <a:solidFill>
            <a:srgbClr val="E9DEC7"/>
          </a:solidFill>
          <a:ln/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B06C91-425B-A1E7-D987-D1CC012B6631}"/>
              </a:ext>
            </a:extLst>
          </p:cNvPr>
          <p:cNvSpPr/>
          <p:nvPr/>
        </p:nvSpPr>
        <p:spPr>
          <a:xfrm>
            <a:off x="594420" y="3700269"/>
            <a:ext cx="7955161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highlight>
                  <a:srgbClr val="E9DEC7"/>
                </a:highlight>
                <a:latin typeface="Source Sans 3" panose="020B0604020202020204" charset="0"/>
                <a:ea typeface="Consolas" pitchFamily="34" charset="-122"/>
                <a:cs typeface="Consolas" pitchFamily="34" charset="-120"/>
              </a:rPr>
              <a:t>sentinelai.ai-engine.url: http://localhost:8000/analyze</a:t>
            </a:r>
            <a:endParaRPr lang="en-US" sz="800" dirty="0">
              <a:latin typeface="Source Sans 3" panose="020B0604020202020204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highlight>
                  <a:srgbClr val="E9DEC7"/>
                </a:highlight>
                <a:latin typeface="Source Sans 3" panose="020B0604020202020204" charset="0"/>
                <a:ea typeface="Consolas" pitchFamily="34" charset="-122"/>
                <a:cs typeface="Consolas" pitchFamily="34" charset="-120"/>
              </a:rPr>
              <a:t>sentinelai.ai-engine.provider: groq</a:t>
            </a:r>
            <a:endParaRPr lang="en-US" sz="800" dirty="0">
              <a:latin typeface="Source Sans 3" panose="020B0604020202020204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highlight>
                  <a:srgbClr val="E9DEC7"/>
                </a:highlight>
                <a:latin typeface="Source Sans 3" panose="020B0604020202020204" charset="0"/>
                <a:ea typeface="Consolas" pitchFamily="34" charset="-122"/>
                <a:cs typeface="Consolas" pitchFamily="34" charset="-120"/>
              </a:rPr>
              <a:t>sentinelai.semantic-search.enabled: true</a:t>
            </a:r>
            <a:endParaRPr lang="en-US" sz="800" dirty="0">
              <a:latin typeface="Source Sans 3" panose="020B0604020202020204" charset="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highlight>
                  <a:srgbClr val="E9DEC7"/>
                </a:highlight>
                <a:latin typeface="Source Sans 3" panose="020B0604020202020204" charset="0"/>
                <a:ea typeface="Consolas" pitchFamily="34" charset="-122"/>
                <a:cs typeface="Consolas" pitchFamily="34" charset="-120"/>
              </a:rPr>
              <a:t>sentinelai.elk.enabled: true</a:t>
            </a:r>
            <a:endParaRPr lang="en-US" sz="800" dirty="0">
              <a:latin typeface="Source Sans 3" panose="020B0604020202020204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820717F-DD52-CE00-31C3-10A8AEEB5F0B}"/>
              </a:ext>
            </a:extLst>
          </p:cNvPr>
          <p:cNvSpPr/>
          <p:nvPr/>
        </p:nvSpPr>
        <p:spPr>
          <a:xfrm>
            <a:off x="496119" y="4297487"/>
            <a:ext cx="815176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Benefits: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61F84C1A-FB13-8C1B-17B1-AFB66F3AD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852" y="4500637"/>
            <a:ext cx="122932" cy="122932"/>
          </a:xfrm>
          <a:prstGeom prst="rect">
            <a:avLst/>
          </a:prstGeom>
        </p:spPr>
      </p:pic>
      <p:sp>
        <p:nvSpPr>
          <p:cNvPr id="25" name="Text 22">
            <a:extLst>
              <a:ext uri="{FF2B5EF4-FFF2-40B4-BE49-F238E27FC236}">
                <a16:creationId xmlns:a16="http://schemas.microsoft.com/office/drawing/2014/main" id="{5C69B870-13F9-F64B-303C-95169C4BE7B1}"/>
              </a:ext>
            </a:extLst>
          </p:cNvPr>
          <p:cNvSpPr/>
          <p:nvPr/>
        </p:nvSpPr>
        <p:spPr>
          <a:xfrm>
            <a:off x="762446" y="4496619"/>
            <a:ext cx="2411462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Cost flexibility: Groq for speed · Ollama for data-residency · Azure OpenAI for enterprise compliance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CADFED14-8E9D-EC82-1ED6-898DEF56C5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3801" y="4500637"/>
            <a:ext cx="122932" cy="122932"/>
          </a:xfrm>
          <a:prstGeom prst="rect">
            <a:avLst/>
          </a:prstGeom>
        </p:spPr>
      </p:pic>
      <p:sp>
        <p:nvSpPr>
          <p:cNvPr id="29" name="Text 24">
            <a:extLst>
              <a:ext uri="{FF2B5EF4-FFF2-40B4-BE49-F238E27FC236}">
                <a16:creationId xmlns:a16="http://schemas.microsoft.com/office/drawing/2014/main" id="{D1C3706C-6519-7E59-032F-4872D3F5784D}"/>
              </a:ext>
            </a:extLst>
          </p:cNvPr>
          <p:cNvSpPr/>
          <p:nvPr/>
        </p:nvSpPr>
        <p:spPr>
          <a:xfrm>
            <a:off x="3824808" y="4496619"/>
            <a:ext cx="2411537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Fully decoupled: SentinelAI-Core is provider-agnostic. Business logic never changes when you swap models.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D32026CF-0F3A-FB93-5096-5A7EDE86F9A6}"/>
              </a:ext>
            </a:extLst>
          </p:cNvPr>
          <p:cNvSpPr/>
          <p:nvPr/>
        </p:nvSpPr>
        <p:spPr>
          <a:xfrm>
            <a:off x="492026" y="11907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Pluggable Ai Providers </a:t>
            </a:r>
            <a:r>
              <a:rPr lang="en-US" sz="275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Architeture</a:t>
            </a:r>
            <a:endParaRPr lang="en-US" sz="275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D22EFCA5-4961-E103-3E99-22FFD8B97BB2}"/>
              </a:ext>
            </a:extLst>
          </p:cNvPr>
          <p:cNvSpPr/>
          <p:nvPr/>
        </p:nvSpPr>
        <p:spPr>
          <a:xfrm>
            <a:off x="4599756" y="2585442"/>
            <a:ext cx="4052218" cy="793179"/>
          </a:xfrm>
          <a:prstGeom prst="roundRect">
            <a:avLst>
              <a:gd name="adj" fmla="val 15500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IN" sz="80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B8A18EE2-79A7-2EDC-F9C6-DA122662D945}"/>
              </a:ext>
            </a:extLst>
          </p:cNvPr>
          <p:cNvSpPr/>
          <p:nvPr/>
        </p:nvSpPr>
        <p:spPr>
          <a:xfrm>
            <a:off x="4635028" y="2762250"/>
            <a:ext cx="3878833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Cloud inference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~3 s latency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Llama 3.3 70B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5000"/>
              </a:lnSpc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Default provider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A8B8DCF1-4577-072C-F834-B2AF356FDACE}"/>
              </a:ext>
            </a:extLst>
          </p:cNvPr>
          <p:cNvSpPr/>
          <p:nvPr/>
        </p:nvSpPr>
        <p:spPr>
          <a:xfrm>
            <a:off x="4751412" y="2622314"/>
            <a:ext cx="3878833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 err="1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OpenRouter</a:t>
            </a:r>
            <a:endParaRPr lang="en-US" sz="8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36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053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Highlights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2447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APIs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094012"/>
            <a:ext cx="3865959" cy="11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/api/rca/analyze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/api/logs/upload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/api/logs/search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/api/elk-investigation/search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172447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Knowledge Service APIs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2094012"/>
            <a:ext cx="3865959" cy="1171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/api/sync/{github|jira|confluence|jenkins|all}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/api/webhooks/{sourceSystem}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/api/timeline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/relationships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/repositories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/api/deployments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/releases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/jira/issues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3577" y="3486224"/>
            <a:ext cx="8096845" cy="746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uses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sentinelai.ai-engine.url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sentinelai.ai-engine.provider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AI routing. Knowledge Service configuration is driven through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sentinelai.knowledge.platforms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settings. The Knowledge Service is optional for RCA — if unavailable, Core continues RCA generation without engineering context.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349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Local Run Guide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764" y="1162720"/>
            <a:ext cx="6296471" cy="2881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999" y="3259772"/>
            <a:ext cx="1182114" cy="428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Run Individually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5211" y="3366800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All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273521" y="3366800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Seed ELK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759443" y="3366800"/>
            <a:ext cx="1182114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Start Infra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212654"/>
            <a:ext cx="8096845" cy="507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service can also be started individually — AI Engine via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uvicorn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Core and Knowledge Service via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mvnw.cmd spring-boot:run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UI via </a:t>
            </a:r>
            <a:r>
              <a:rPr lang="en-US" sz="11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434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&amp; What's Next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22597" y="1037109"/>
            <a:ext cx="4079304" cy="3678957"/>
          </a:xfrm>
          <a:prstGeom prst="roundRect">
            <a:avLst>
              <a:gd name="adj" fmla="val 572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2794" y="1168598"/>
            <a:ext cx="3798912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r>
              <a:rPr lang="en-US" sz="12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Implemented Now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2794" y="1511126"/>
            <a:ext cx="3798912" cy="1270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RCA analysis from logs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ELK investigation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provider routing (Groq, Ollama, HuggingFace, OpenAI)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Knowledge Service sync and webhook ingestion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Engineering-context enrichment for RCA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7840" y="1168598"/>
            <a:ext cx="3877345" cy="21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🔭</a:t>
            </a:r>
            <a:r>
              <a:rPr lang="en-US" sz="1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Planned or Evolving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47840" y="1511126"/>
            <a:ext cx="3877345" cy="1224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Deeper incident correlation across systems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Kafka-based monitoring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Jira/Slack remediation workflows</a:t>
            </a:r>
            <a:endParaRPr lang="en-US" sz="1100" dirty="0"/>
          </a:p>
          <a:p>
            <a:pPr marL="223520" indent="-223520" algn="l">
              <a:lnSpc>
                <a:spcPct val="129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Stronger production-grade integrations with enterprise platforms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7840" y="2918817"/>
            <a:ext cx="3877345" cy="19050"/>
          </a:xfrm>
          <a:prstGeom prst="roundRect">
            <a:avLst>
              <a:gd name="adj" fmla="val 60000"/>
            </a:avLst>
          </a:prstGeom>
          <a:solidFill>
            <a:srgbClr val="D6E5EF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4308356-43C4-62F0-C403-F76A955B0882}"/>
              </a:ext>
            </a:extLst>
          </p:cNvPr>
          <p:cNvSpPr/>
          <p:nvPr/>
        </p:nvSpPr>
        <p:spPr>
          <a:xfrm>
            <a:off x="496119" y="714226"/>
            <a:ext cx="860896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SentinelAI as the central AI brain for production operations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A9B7D0-FE43-C9A2-18CC-40A6E307140D}"/>
              </a:ext>
            </a:extLst>
          </p:cNvPr>
          <p:cNvSpPr/>
          <p:nvPr/>
        </p:nvSpPr>
        <p:spPr>
          <a:xfrm>
            <a:off x="496119" y="877119"/>
            <a:ext cx="8151763" cy="9525"/>
          </a:xfrm>
          <a:prstGeom prst="roundRect">
            <a:avLst>
              <a:gd name="adj" fmla="val 60000"/>
            </a:avLst>
          </a:prstGeom>
          <a:solidFill>
            <a:srgbClr val="403011">
              <a:alpha val="50000"/>
            </a:srgbClr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55C009-2ADB-7867-B6D7-7208AC8612E2}"/>
              </a:ext>
            </a:extLst>
          </p:cNvPr>
          <p:cNvSpPr/>
          <p:nvPr/>
        </p:nvSpPr>
        <p:spPr>
          <a:xfrm>
            <a:off x="496119" y="969541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The On-Call Experience — with SentinelAI Fully Realised</a:t>
            </a:r>
            <a:endParaRPr lang="en-US" sz="12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2C2E36-B86E-0158-5532-D3D448868F30}"/>
              </a:ext>
            </a:extLst>
          </p:cNvPr>
          <p:cNvSpPr/>
          <p:nvPr/>
        </p:nvSpPr>
        <p:spPr>
          <a:xfrm>
            <a:off x="496119" y="1226939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F1FFA5-8268-A9A4-8266-3E27E392CCCF}"/>
              </a:ext>
            </a:extLst>
          </p:cNvPr>
          <p:cNvSpPr/>
          <p:nvPr/>
        </p:nvSpPr>
        <p:spPr>
          <a:xfrm>
            <a:off x="496119" y="1349127"/>
            <a:ext cx="4054673" cy="9525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2F8C97-EEA2-856A-DB20-8C826088CB2B}"/>
              </a:ext>
            </a:extLst>
          </p:cNvPr>
          <p:cNvSpPr/>
          <p:nvPr/>
        </p:nvSpPr>
        <p:spPr>
          <a:xfrm>
            <a:off x="496119" y="1406872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🚨</a:t>
            </a:r>
            <a:r>
              <a:rPr lang="en-US" sz="9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Alert fires</a:t>
            </a:r>
            <a:endParaRPr lang="en-US" sz="9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DE0C4FA-F23C-6D6F-E80A-34C363AEA34B}"/>
              </a:ext>
            </a:extLst>
          </p:cNvPr>
          <p:cNvSpPr/>
          <p:nvPr/>
        </p:nvSpPr>
        <p:spPr>
          <a:xfrm>
            <a:off x="496119" y="1553319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PagerDuty/alerting triggers. Agent receives context.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1824A6-5893-BC65-057E-96C32D488B0C}"/>
              </a:ext>
            </a:extLst>
          </p:cNvPr>
          <p:cNvSpPr/>
          <p:nvPr/>
        </p:nvSpPr>
        <p:spPr>
          <a:xfrm>
            <a:off x="4593134" y="1226939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17346B-578A-2F6C-A7B7-B9BC0A7C53F9}"/>
              </a:ext>
            </a:extLst>
          </p:cNvPr>
          <p:cNvSpPr/>
          <p:nvPr/>
        </p:nvSpPr>
        <p:spPr>
          <a:xfrm>
            <a:off x="4593134" y="1349127"/>
            <a:ext cx="4054748" cy="9525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93F4C3B-67EE-3A60-D5D9-56EFB5D09E6B}"/>
              </a:ext>
            </a:extLst>
          </p:cNvPr>
          <p:cNvSpPr/>
          <p:nvPr/>
        </p:nvSpPr>
        <p:spPr>
          <a:xfrm>
            <a:off x="4593134" y="1406872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reasons</a:t>
            </a:r>
            <a:endParaRPr lang="en-US" sz="75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709B36-F44D-944D-13A2-F91A9E665D55}"/>
              </a:ext>
            </a:extLst>
          </p:cNvPr>
          <p:cNvSpPr/>
          <p:nvPr/>
        </p:nvSpPr>
        <p:spPr>
          <a:xfrm>
            <a:off x="4593134" y="1553319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Understands goal: 'investigate payment service degradation'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9C79880-5CC9-1CD6-B44C-CD6961ECFBBF}"/>
              </a:ext>
            </a:extLst>
          </p:cNvPr>
          <p:cNvSpPr/>
          <p:nvPr/>
        </p:nvSpPr>
        <p:spPr>
          <a:xfrm>
            <a:off x="496119" y="1749698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666C84B-DDBE-7565-C9CC-6F801180E3DA}"/>
              </a:ext>
            </a:extLst>
          </p:cNvPr>
          <p:cNvSpPr/>
          <p:nvPr/>
        </p:nvSpPr>
        <p:spPr>
          <a:xfrm>
            <a:off x="496119" y="1871886"/>
            <a:ext cx="4054673" cy="9525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3B57A1F-EE5A-999E-74D2-53DCE60E297E}"/>
              </a:ext>
            </a:extLst>
          </p:cNvPr>
          <p:cNvSpPr/>
          <p:nvPr/>
        </p:nvSpPr>
        <p:spPr>
          <a:xfrm>
            <a:off x="496119" y="1929631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queries</a:t>
            </a:r>
            <a:endParaRPr lang="en-US" sz="75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95C416-0786-54AE-BD80-CDF95070E1A5}"/>
              </a:ext>
            </a:extLst>
          </p:cNvPr>
          <p:cNvSpPr/>
          <p:nvPr/>
        </p:nvSpPr>
        <p:spPr>
          <a:xfrm>
            <a:off x="496119" y="2076078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Calls ELK · Kafka · deployment history · incident KB — all auto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F586413-A115-049A-D2C8-A9475520532B}"/>
              </a:ext>
            </a:extLst>
          </p:cNvPr>
          <p:cNvSpPr/>
          <p:nvPr/>
        </p:nvSpPr>
        <p:spPr>
          <a:xfrm>
            <a:off x="4593134" y="1749698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A285762-0EDA-111D-99C3-4605549994F2}"/>
              </a:ext>
            </a:extLst>
          </p:cNvPr>
          <p:cNvSpPr/>
          <p:nvPr/>
        </p:nvSpPr>
        <p:spPr>
          <a:xfrm>
            <a:off x="4593134" y="1871886"/>
            <a:ext cx="4054748" cy="9525"/>
          </a:xfrm>
          <a:prstGeom prst="rect">
            <a:avLst/>
          </a:prstGeom>
          <a:solidFill>
            <a:srgbClr val="CC914D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48979FB-FE16-BAC6-4100-E28ED10A753A}"/>
              </a:ext>
            </a:extLst>
          </p:cNvPr>
          <p:cNvSpPr/>
          <p:nvPr/>
        </p:nvSpPr>
        <p:spPr>
          <a:xfrm>
            <a:off x="4593134" y="1929631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📝</a:t>
            </a: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correlates</a:t>
            </a:r>
            <a:endParaRPr lang="en-US" sz="75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3F1E960-7514-83BC-B5BB-14D283A67550}"/>
              </a:ext>
            </a:extLst>
          </p:cNvPr>
          <p:cNvSpPr/>
          <p:nvPr/>
        </p:nvSpPr>
        <p:spPr>
          <a:xfrm>
            <a:off x="4593134" y="2076078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Links deploy v2.3.1 to error spike 18 min later via timeline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FD9EA79-2D39-8354-AC18-5F4CD3BAD884}"/>
              </a:ext>
            </a:extLst>
          </p:cNvPr>
          <p:cNvSpPr/>
          <p:nvPr/>
        </p:nvSpPr>
        <p:spPr>
          <a:xfrm>
            <a:off x="496119" y="2272457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7D70978-B1BE-1EFD-8FF7-81DEC48E06D3}"/>
              </a:ext>
            </a:extLst>
          </p:cNvPr>
          <p:cNvSpPr/>
          <p:nvPr/>
        </p:nvSpPr>
        <p:spPr>
          <a:xfrm>
            <a:off x="496119" y="2394645"/>
            <a:ext cx="4054673" cy="9525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ECB911-9B98-DB2B-169B-FEE7E4C449B9}"/>
              </a:ext>
            </a:extLst>
          </p:cNvPr>
          <p:cNvSpPr/>
          <p:nvPr/>
        </p:nvSpPr>
        <p:spPr>
          <a:xfrm>
            <a:off x="496119" y="2452390"/>
            <a:ext cx="405467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🔗</a:t>
            </a: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Agent drafts</a:t>
            </a:r>
            <a:endParaRPr lang="en-US" sz="75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9CE61AE-20C7-260A-69AE-CF17215242FC}"/>
              </a:ext>
            </a:extLst>
          </p:cNvPr>
          <p:cNvSpPr/>
          <p:nvPr/>
        </p:nvSpPr>
        <p:spPr>
          <a:xfrm>
            <a:off x="496119" y="2598837"/>
            <a:ext cx="4054673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Prepares RCA, runbook + Jira ticket draft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2E90717-857C-00A4-7603-53BE6B843611}"/>
              </a:ext>
            </a:extLst>
          </p:cNvPr>
          <p:cNvSpPr/>
          <p:nvPr/>
        </p:nvSpPr>
        <p:spPr>
          <a:xfrm>
            <a:off x="4593134" y="2272457"/>
            <a:ext cx="15500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 Light" pitchFamily="34" charset="-122"/>
                <a:cs typeface="Brygada 1918 Light" pitchFamily="34" charset="-120"/>
              </a:rPr>
              <a:t>06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7EED6DD-7E79-7BEC-9216-52E0A5D53F9E}"/>
              </a:ext>
            </a:extLst>
          </p:cNvPr>
          <p:cNvSpPr/>
          <p:nvPr/>
        </p:nvSpPr>
        <p:spPr>
          <a:xfrm>
            <a:off x="4593134" y="2394645"/>
            <a:ext cx="4054748" cy="9525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5CCE78E-2E73-41D1-2F7F-27E20EC6DD23}"/>
              </a:ext>
            </a:extLst>
          </p:cNvPr>
          <p:cNvSpPr/>
          <p:nvPr/>
        </p:nvSpPr>
        <p:spPr>
          <a:xfrm>
            <a:off x="4593134" y="2452390"/>
            <a:ext cx="4054748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75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 Human approves</a:t>
            </a:r>
            <a:endParaRPr lang="en-US" sz="75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A22A55-39B6-2AC7-8D24-35A0F61BEA56}"/>
              </a:ext>
            </a:extLst>
          </p:cNvPr>
          <p:cNvSpPr/>
          <p:nvPr/>
        </p:nvSpPr>
        <p:spPr>
          <a:xfrm>
            <a:off x="4593134" y="2598837"/>
            <a:ext cx="405474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On-call reviews in &lt; 2 min and resolves incident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AC6A282-C8CC-BC15-821C-D344B5473DCA}"/>
              </a:ext>
            </a:extLst>
          </p:cNvPr>
          <p:cNvSpPr/>
          <p:nvPr/>
        </p:nvSpPr>
        <p:spPr>
          <a:xfrm>
            <a:off x="496119" y="281642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Why This Matters:</a:t>
            </a:r>
            <a:endParaRPr lang="en-US" sz="12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11DACD-065F-C98E-F628-6DD0C50C2009}"/>
              </a:ext>
            </a:extLst>
          </p:cNvPr>
          <p:cNvSpPr/>
          <p:nvPr/>
        </p:nvSpPr>
        <p:spPr>
          <a:xfrm>
            <a:off x="496119" y="3073822"/>
            <a:ext cx="8151763" cy="42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agent will reason over ELK, Kafka, deployments, releases and engineering knowledge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SentinelAI-Knowledge-Service becomes the memory layer for past incidents and change history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human approves in minutes while the agent drafts RCA, runbooks and Jira actions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This moves the platform from demo to an enterprise-ready operations copilot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9548C02-4448-70A1-7917-A2D869E61FCE}"/>
              </a:ext>
            </a:extLst>
          </p:cNvPr>
          <p:cNvSpPr/>
          <p:nvPr/>
        </p:nvSpPr>
        <p:spPr>
          <a:xfrm>
            <a:off x="496119" y="3565475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Source Sans 3" panose="020B0604020202020204" charset="0"/>
                <a:ea typeface="Brygada 1918 SemiBold" pitchFamily="34" charset="-122"/>
                <a:cs typeface="Brygada 1918 SemiBold" pitchFamily="34" charset="-120"/>
              </a:rPr>
              <a:t>Capability Readiness:</a:t>
            </a:r>
            <a:endParaRPr lang="en-US" sz="12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B35276A-B190-2114-BB40-C8568F61AC39}"/>
              </a:ext>
            </a:extLst>
          </p:cNvPr>
          <p:cNvSpPr/>
          <p:nvPr/>
        </p:nvSpPr>
        <p:spPr>
          <a:xfrm>
            <a:off x="496119" y="3822874"/>
            <a:ext cx="8151763" cy="64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✅ Multi-step ReAct loop [designed]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✅ Tool registry [designed]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✅ ElkClient + RAG [built]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🔭 Kafka triggers [P2 roadmap]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🔭 OIDC / RBAC [P2 roadmap]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  <a:p>
            <a:pPr marL="121920" indent="-121920" algn="l">
              <a:lnSpc>
                <a:spcPct val="103000"/>
              </a:lnSpc>
              <a:buSzPct val="100000"/>
              <a:buChar char="•"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🔭 Feedback / LLMOps [P2 roadmap]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32AB8F5-C87F-6403-5137-EFE4DEC1AC92}"/>
              </a:ext>
            </a:extLst>
          </p:cNvPr>
          <p:cNvSpPr/>
          <p:nvPr/>
        </p:nvSpPr>
        <p:spPr>
          <a:xfrm>
            <a:off x="496119" y="4520059"/>
            <a:ext cx="8151763" cy="215057"/>
          </a:xfrm>
          <a:prstGeom prst="roundRect">
            <a:avLst>
              <a:gd name="adj" fmla="val 54076"/>
            </a:avLst>
          </a:prstGeom>
          <a:solidFill>
            <a:srgbClr val="EAEDDE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856A1CFB-F6B0-F8F5-6226-D380E6A8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4" y="4616872"/>
            <a:ext cx="96887" cy="77465"/>
          </a:xfrm>
          <a:prstGeom prst="rect">
            <a:avLst/>
          </a:prstGeom>
        </p:spPr>
      </p:pic>
      <p:sp>
        <p:nvSpPr>
          <p:cNvPr id="36" name="Text 33">
            <a:extLst>
              <a:ext uri="{FF2B5EF4-FFF2-40B4-BE49-F238E27FC236}">
                <a16:creationId xmlns:a16="http://schemas.microsoft.com/office/drawing/2014/main" id="{5B760F94-E12D-56D4-A43D-EEAAA093F823}"/>
              </a:ext>
            </a:extLst>
          </p:cNvPr>
          <p:cNvSpPr/>
          <p:nvPr/>
        </p:nvSpPr>
        <p:spPr>
          <a:xfrm>
            <a:off x="747936" y="4581748"/>
            <a:ext cx="8279681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chemeClr val="bg1"/>
                </a:solidFill>
                <a:latin typeface="Source Sans 3" panose="020B0604020202020204" charset="0"/>
                <a:ea typeface="Brygada 1918" pitchFamily="34" charset="-122"/>
                <a:cs typeface="Brygada 1918" pitchFamily="34" charset="-120"/>
              </a:rPr>
              <a:t>The components are either built or clearly designed. SentinelAI is not a demo — it is a foundation.</a:t>
            </a:r>
            <a:endParaRPr lang="en-US" sz="600" dirty="0">
              <a:solidFill>
                <a:schemeClr val="bg1"/>
              </a:solidFill>
              <a:latin typeface="Source Sans 3" panose="020B0604020202020204" charset="0"/>
            </a:endParaRPr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405BBB1A-7B5D-10CA-E1F2-C5EE2B7E8EAD}"/>
              </a:ext>
            </a:extLst>
          </p:cNvPr>
          <p:cNvSpPr/>
          <p:nvPr/>
        </p:nvSpPr>
        <p:spPr>
          <a:xfrm>
            <a:off x="496119" y="154045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5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Vision — Enterprise AI SRE Copilot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245749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</TotalTime>
  <Words>1255</Words>
  <Application>Microsoft Office PowerPoint</Application>
  <PresentationFormat>On-screen Show (16:9)</PresentationFormat>
  <Paragraphs>186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Lora</vt:lpstr>
      <vt:lpstr>Arial</vt:lpstr>
      <vt:lpstr>Consolas</vt:lpstr>
      <vt:lpstr>Source Sans 3 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Praveen Deshmukh</cp:lastModifiedBy>
  <cp:revision>27</cp:revision>
  <dcterms:created xsi:type="dcterms:W3CDTF">2026-07-14T09:29:44Z</dcterms:created>
  <dcterms:modified xsi:type="dcterms:W3CDTF">2026-07-16T10:11:03Z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2026-07-16T07:54:25Z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1bd2a3f2-fee1-4683-9b6c-bc20b8ed377f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