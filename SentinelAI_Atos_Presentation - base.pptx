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</a:rPr>
              <a:t>SentinelAI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BCD4"/>
                </a:solidFill>
              </a:rPr>
              <a:t>AI-Assisted Incident Investigation &amp; RCA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27248"/>
            <a:ext cx="5943600" cy="6400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3273552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BBC9"/>
                </a:solidFill>
              </a:rPr>
              <a:t>AI layer on top of ELK · Kafka · Cloud-Native Platforms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Praveen Kumar Deshmukh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30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BC9"/>
                </a:solidFill>
              </a:rPr>
              <a:t>Principal Software Engineer &amp; Architect  |  Atos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CD4"/>
                </a:solidFill>
              </a:rPr>
              <a:t>May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5486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778240" y="1645920"/>
            <a:ext cx="3108960" cy="54864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503920" y="2194560"/>
            <a:ext cx="3383279" cy="5486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961120" y="2743200"/>
            <a:ext cx="2926079" cy="54864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321040" y="3291840"/>
            <a:ext cx="3566160" cy="5486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686800" y="3840480"/>
            <a:ext cx="3200400" cy="54864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0" y="4389120"/>
            <a:ext cx="3657600" cy="5486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869680" y="4937760"/>
            <a:ext cx="3017520" cy="54864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0" y="5943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BBC9"/>
                </a:solidFill>
              </a:rPr>
              <a:t>[ ATOS INTERNAL — CONFIDENTIAL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Why an AI Layer on Top of Observability?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CD4"/>
                </a:solidFill>
              </a:rPr>
              <a:t>The industry is moving — and we are already building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1247120" cy="749808"/>
          </a:xfrm>
          <a:prstGeom prst="rect">
            <a:avLst/>
          </a:prstGeom>
          <a:solidFill>
            <a:srgbClr val="10243E"/>
          </a:solidFill>
          <a:ln w="1270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307592"/>
            <a:ext cx="10972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Distributed, cloud-native systems generate millions of log events every hour.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57400"/>
            <a:ext cx="11247120" cy="749808"/>
          </a:xfrm>
          <a:prstGeom prst="rect">
            <a:avLst/>
          </a:prstGeom>
          <a:solidFill>
            <a:srgbClr val="10243E"/>
          </a:solidFill>
          <a:ln w="1270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130552"/>
            <a:ext cx="10972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On-call engineers spend 40–60 % of incident response time manually querying ELK, correlating signals and writing RCAs.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80360"/>
            <a:ext cx="11247120" cy="749808"/>
          </a:xfrm>
          <a:prstGeom prst="rect">
            <a:avLst/>
          </a:prstGeom>
          <a:solidFill>
            <a:srgbClr val="10243E"/>
          </a:solidFill>
          <a:ln w="1270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953512"/>
            <a:ext cx="10972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Major vendors — Datadog, Dynatrace, New Relic, AWS — are racing to embed AI copilots into observability platforms.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11247120" cy="749808"/>
          </a:xfrm>
          <a:prstGeom prst="rect">
            <a:avLst/>
          </a:prstGeom>
          <a:solidFill>
            <a:srgbClr val="10243E"/>
          </a:solidFill>
          <a:ln w="1270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776472"/>
            <a:ext cx="10972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Early adopters report 30–50 % reduction in mean-time-to-resolve (MTTR) with AI-assisted triage.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526280"/>
            <a:ext cx="11247120" cy="749808"/>
          </a:xfrm>
          <a:prstGeom prst="rect">
            <a:avLst/>
          </a:prstGeom>
          <a:solidFill>
            <a:srgbClr val="10243E"/>
          </a:solidFill>
          <a:ln w="1270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599432"/>
            <a:ext cx="10972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SentinelAI is our internal initiative: build this capability on our own stack, own the IP, demonstrate it to clients.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053328"/>
            <a:ext cx="12188952" cy="685800"/>
          </a:xfrm>
          <a:prstGeom prst="rect">
            <a:avLst/>
          </a:prstGeom>
          <a:solidFill>
            <a:srgbClr val="00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60807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C107"/>
                </a:solidFill>
              </a:rPr>
              <a:t>💡  The question is not whether to add AI to observability — it is how quickly we can build it and how well we make it 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Current Pain Points in Incident Investigation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11430000" cy="804672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307592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CD4"/>
                </a:solidFill>
              </a:rPr>
              <a:t>🐢  Slow &amp; Manual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307592"/>
            <a:ext cx="8321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Engineers manually grep logs, craft Kibana DSL queries, and correlate timestamps across multiple browser tabs — for every incident.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112264"/>
            <a:ext cx="11430000" cy="804672"/>
          </a:xfrm>
          <a:prstGeom prst="rect">
            <a:avLst/>
          </a:prstGeom>
          <a:solidFill>
            <a:srgbClr val="10243E"/>
          </a:solidFill>
          <a:ln w="190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185416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D00"/>
                </a:solidFill>
              </a:rPr>
              <a:t>🔁  Repetitive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185416"/>
            <a:ext cx="8321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Similar failures are investigated from scratch every on-call rotation.  No memory, no learning loop.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990088"/>
            <a:ext cx="11430000" cy="804672"/>
          </a:xfrm>
          <a:prstGeom prst="rect">
            <a:avLst/>
          </a:prstGeom>
          <a:solidFill>
            <a:srgbClr val="10243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063240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🧩  Knowledge Silos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063240"/>
            <a:ext cx="8321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Senior engineers carry tribal knowledge.  Junior engineers struggle with ELK/Kafka query syntax and miss key signals.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867912"/>
            <a:ext cx="11430000" cy="804672"/>
          </a:xfrm>
          <a:prstGeom prst="rect">
            <a:avLst/>
          </a:prstGeom>
          <a:solidFill>
            <a:srgbClr val="1024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3941064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CAF50"/>
                </a:solidFill>
              </a:rPr>
              <a:t>📝  RCA Bottleneck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941064"/>
            <a:ext cx="8321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Post-incident RCAs are written hours or days later, relying on fading memory — or skipped entirely under time pressure.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745736"/>
            <a:ext cx="11430000" cy="804672"/>
          </a:xfrm>
          <a:prstGeom prst="rect">
            <a:avLst/>
          </a:prstGeom>
          <a:solidFill>
            <a:srgbClr val="10243E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4818888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4DFF"/>
                </a:solidFill>
              </a:rPr>
              <a:t>📉  No Pattern Reuse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4818888"/>
            <a:ext cx="8321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Past incidents are not indexed or searchable.  The same root causes recur because no institutional memory is built.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126480"/>
            <a:ext cx="12188952" cy="621792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6163056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We need an AI-assisted layer that turns raw observability data into summaries, hypotheses and recommended actions.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SentinelAI in One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CD4"/>
                </a:solidFill>
              </a:rPr>
              <a:t>An AI-assisted incident investigation platform — built on the stack we already 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3566160" cy="4434840"/>
          </a:xfrm>
          <a:prstGeom prst="rect">
            <a:avLst/>
          </a:prstGeom>
          <a:solidFill>
            <a:srgbClr val="10243E"/>
          </a:solidFill>
          <a:ln w="2540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ED6"/>
                </a:solidFill>
              </a:rPr>
              <a:t>📋  Log RCA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56231"/>
            <a:ext cx="3291840" cy="36576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Paste or upload any log file.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414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AI generates: issue summary,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1693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root cause, impacted service,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39242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recommended fix.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86791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Historical context via RAG.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33088" y="1234440"/>
            <a:ext cx="3566160" cy="4434840"/>
          </a:xfrm>
          <a:prstGeom prst="rect">
            <a:avLst/>
          </a:prstGeom>
          <a:solidFill>
            <a:srgbClr val="10243E"/>
          </a:solidFill>
          <a:ln w="254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70248" y="1371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CD4"/>
                </a:solidFill>
              </a:rPr>
              <a:t>🔍  ELK Live Investigation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1856231"/>
            <a:ext cx="329184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15968" y="1965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Select service + severity + timeframe.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24414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Queries Elasticsearch 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5968" y="291693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Returns AI-generated investigation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339242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summary + suspicious log lines.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386791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No file upload required.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00416" y="1234440"/>
            <a:ext cx="3566160" cy="4434840"/>
          </a:xfrm>
          <a:prstGeom prst="rect">
            <a:avLst/>
          </a:prstGeom>
          <a:solidFill>
            <a:srgbClr val="10243E"/>
          </a:solidFill>
          <a:ln w="2540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37576" y="1371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4DFF"/>
                </a:solidFill>
              </a:rPr>
              <a:t>🧠  Agentic AI  (Next)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37576" y="1856231"/>
            <a:ext cx="3291840" cy="36576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83296" y="1965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Autonomous multi-step reasoning.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83296" y="24414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Query ELK, Kafka, deploy history.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83296" y="291693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Correlate cross-system signals.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83296" y="339242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Propose remediation &amp; runbooks.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3296" y="386791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File Jira / post to Slack.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806440"/>
            <a:ext cx="11430000" cy="658368"/>
          </a:xfrm>
          <a:prstGeom prst="rect">
            <a:avLst/>
          </a:prstGeom>
          <a:solidFill>
            <a:srgbClr val="051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5888736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BC9"/>
                </a:solidFill>
              </a:rPr>
              <a:t>Stack:  React  ·  Spring Boot  ·  FastAPI  ·  PostgreSQL + pgvector  ·  Elasticsearch  ·  Groq / Ollama  ·  Docker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High-Level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CD4"/>
                </a:solidFill>
              </a:rPr>
              <a:t>Three deployable services + Docker-compose infra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822960"/>
          </a:xfrm>
          <a:prstGeom prst="rect">
            <a:avLst/>
          </a:prstGeom>
          <a:solidFill>
            <a:srgbClr val="10243E"/>
          </a:solidFill>
          <a:ln w="2540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ED6"/>
                </a:solidFill>
              </a:rPr>
              <a:t>sentinelai-ui  (React SPA)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1481328"/>
            <a:ext cx="36576" cy="411480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60520" y="1399032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Log RCA tab  |  ELK Investigation tab  |  Future: Agentic console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10312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6ED6"/>
                </a:solidFill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67712"/>
            <a:ext cx="11247120" cy="822960"/>
          </a:xfrm>
          <a:prstGeom prst="rect">
            <a:avLst/>
          </a:prstGeom>
          <a:solidFill>
            <a:srgbClr val="10243E"/>
          </a:solidFill>
          <a:ln w="254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2359152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CD4"/>
                </a:solidFill>
              </a:rPr>
              <a:t>SentinelAI-Core  (Spring Boot)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468880"/>
            <a:ext cx="36576" cy="41148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60520" y="2386584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REST orchestration  |  RAG retrieval  |  ElkClient  |  pgvector semantic 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09067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6ED6"/>
                </a:solidFill>
              </a:rPr>
              <a:t>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55264"/>
            <a:ext cx="11247120" cy="822960"/>
          </a:xfrm>
          <a:prstGeom prst="rect">
            <a:avLst/>
          </a:prstGeom>
          <a:solidFill>
            <a:srgbClr val="10243E"/>
          </a:solidFill>
          <a:ln w="2540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346704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4DFF"/>
                </a:solidFill>
              </a:rPr>
              <a:t>SentinelAI-Engine  (FastAPI)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3456432"/>
            <a:ext cx="36576" cy="41148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160520" y="3374136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Provider routing:  Groq · Ollama · OpenAI · HuggingFace · AWS Bedrock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40782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6ED6"/>
                </a:solidFill>
              </a:rPr>
              <a:t>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42816"/>
            <a:ext cx="11247120" cy="822960"/>
          </a:xfrm>
          <a:prstGeom prst="rect">
            <a:avLst/>
          </a:prstGeom>
          <a:solidFill>
            <a:srgbClr val="10243E"/>
          </a:solidFill>
          <a:ln w="2540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4334256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D00"/>
                </a:solidFill>
              </a:rPr>
              <a:t>Infrastructure  (Docker Compose)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0" y="4443984"/>
            <a:ext cx="36576" cy="41148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160520" y="4361688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PostgreSQL + pgvector  |  Elasticsearch 7.x  |  Ollama  |  Kafka (P2 roadmap)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715000"/>
            <a:ext cx="11247120" cy="658368"/>
          </a:xfrm>
          <a:prstGeom prst="rect">
            <a:avLst/>
          </a:prstGeom>
          <a:solidFill>
            <a:srgbClr val="051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5806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BC9"/>
                </a:solidFill>
              </a:rPr>
              <a:t>📡  External inputs:  Elasticsearch logs  ·  Kafka events (P2)  ·  Deployment metadata (P2)  ·  ITSM / alerting (P2)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Existing Capability – Log RCA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CD4"/>
                </a:solidFill>
              </a:rPr>
              <a:t>Paste logs → AI returns structured root-cause analysis in seconds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2103120" cy="1280160"/>
          </a:xfrm>
          <a:prstGeom prst="rect">
            <a:avLst/>
          </a:prstGeom>
          <a:solidFill>
            <a:srgbClr val="10243E"/>
          </a:solidFill>
          <a:ln w="1905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1325880"/>
            <a:ext cx="1883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ED6"/>
                </a:solidFill>
              </a:rPr>
              <a:t>1 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719072"/>
            <a:ext cx="188366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Pastes log text or
uploads a log file
in the Log RCA tab.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1719072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05456" y="1234440"/>
            <a:ext cx="2103120" cy="1280160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15184" y="1325880"/>
            <a:ext cx="1883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CD4"/>
                </a:solidFill>
              </a:rPr>
              <a:t>2  UI → 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719072"/>
            <a:ext cx="188366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POST /api/rca/analyze
{ "log": "&lt;text&gt;"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1719072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36592" y="1234440"/>
            <a:ext cx="2103120" cy="1280160"/>
          </a:xfrm>
          <a:prstGeom prst="rect">
            <a:avLst/>
          </a:prstGeom>
          <a:solidFill>
            <a:srgbClr val="1024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46320" y="1325880"/>
            <a:ext cx="1883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CAF50"/>
                </a:solidFill>
              </a:rPr>
              <a:t>3  Core (RAG)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1719072"/>
            <a:ext cx="188366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Embeds log · Searches
pgvector for similar
past incidents.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719072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67728" y="1234440"/>
            <a:ext cx="2103120" cy="1280160"/>
          </a:xfrm>
          <a:prstGeom prst="rect">
            <a:avLst/>
          </a:prstGeom>
          <a:solidFill>
            <a:srgbClr val="10243E"/>
          </a:solidFill>
          <a:ln w="190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77456" y="1325880"/>
            <a:ext cx="1883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D00"/>
                </a:solidFill>
              </a:rPr>
              <a:t>4  Core→Engine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77456" y="1719072"/>
            <a:ext cx="188366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Prompt (log + context)
POST /analyze
?provider=groq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9136" y="1719072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98864" y="1234440"/>
            <a:ext cx="2103120" cy="1280160"/>
          </a:xfrm>
          <a:prstGeom prst="rect">
            <a:avLst/>
          </a:prstGeom>
          <a:solidFill>
            <a:srgbClr val="10243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08592" y="1325880"/>
            <a:ext cx="1883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5  AI Response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08592" y="1719072"/>
            <a:ext cx="188366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Groq Llama 3.3 70B
Returns structured
JSON fields.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97480"/>
            <a:ext cx="11430000" cy="1920240"/>
          </a:xfrm>
          <a:prstGeom prst="rect">
            <a:avLst/>
          </a:prstGeom>
          <a:solidFill>
            <a:srgbClr val="081C36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2788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CD4"/>
                </a:solidFill>
              </a:rPr>
              <a:t>Structured JSON response returned to UI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20040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issue: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32004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Short one-line description of what failed.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0040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rootCause: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0" y="32004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Likely cause with supporting evidence from the log.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65760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impactedService: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36576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Which microservice / component is affected.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65760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recommendedFix: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80" y="36576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Actionable steps to resolve the issue.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11480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provider: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86000" y="41148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Which LLM model was used.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411480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errors: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148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Auth/provider failures surfaced for visibility.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754880"/>
            <a:ext cx="11430000" cy="548640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8640" y="4809744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CAF50"/>
                </a:solidFill>
              </a:rPr>
              <a:t>✅  Value:  Reduces log-reading time · Consistent RCA structure · Shareable output · Feeds knowledge base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Existing Capability – ELK-Based Live Investigation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CD4"/>
                </a:solidFill>
              </a:rPr>
              <a:t>Select service + severity + timeframe → AI-generated incident analysis instantly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5577840" cy="804672"/>
          </a:xfrm>
          <a:prstGeom prst="rect">
            <a:avLst/>
          </a:prstGeom>
          <a:solidFill>
            <a:srgbClr val="10243E"/>
          </a:solidFill>
          <a:ln w="1905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0352" y="12984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ED6"/>
                </a:solidFill>
              </a:rPr>
              <a:t>Engineer selects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298448"/>
            <a:ext cx="3474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service · severity · timeframeMinutes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039112"/>
            <a:ext cx="36576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6ED6"/>
                </a:solidFill>
              </a:rPr>
              <a:t>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30552"/>
            <a:ext cx="5577840" cy="804672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" y="219456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CD4"/>
                </a:solidFill>
              </a:rPr>
              <a:t>POST → 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194560"/>
            <a:ext cx="3474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/api/elk-investigation/search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935224"/>
            <a:ext cx="36576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6ED6"/>
                </a:solidFill>
              </a:rPr>
              <a:t>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026664"/>
            <a:ext cx="5577840" cy="804672"/>
          </a:xfrm>
          <a:prstGeom prst="rect">
            <a:avLst/>
          </a:prstGeom>
          <a:solidFill>
            <a:srgbClr val="1024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09067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AF50"/>
                </a:solidFill>
              </a:rPr>
              <a:t>Core → Elasticsearch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3090672"/>
            <a:ext cx="3474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BoolQuery: term(service) + term(severity) + date range
≤50 lines, deduped &amp; truncated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831336"/>
            <a:ext cx="36576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6ED6"/>
                </a:solidFill>
              </a:rPr>
              <a:t>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922776"/>
            <a:ext cx="5577840" cy="804672"/>
          </a:xfrm>
          <a:prstGeom prst="rect">
            <a:avLst/>
          </a:prstGeom>
          <a:solidFill>
            <a:srgbClr val="10243E"/>
          </a:solidFill>
          <a:ln w="190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0352" y="398678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D00"/>
                </a:solidFill>
              </a:rPr>
              <a:t>Core → AI-Engine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986784"/>
            <a:ext cx="3474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ElkPromptBuilder numbers lines
Requests JSON: issue · rootCause · suspiciousLogs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4727448"/>
            <a:ext cx="36576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6ED6"/>
                </a:solidFill>
              </a:rPr>
              <a:t>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818888"/>
            <a:ext cx="5577840" cy="804672"/>
          </a:xfrm>
          <a:prstGeom prst="rect">
            <a:avLst/>
          </a:prstGeom>
          <a:solidFill>
            <a:srgbClr val="10243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30352" y="48828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AI → Core → UI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882896"/>
            <a:ext cx="3474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Summary card · Key findings
· Suspicious logs list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1234440"/>
            <a:ext cx="5577840" cy="4114800"/>
          </a:xfrm>
          <a:prstGeom prst="rect">
            <a:avLst/>
          </a:prstGeom>
          <a:solidFill>
            <a:srgbClr val="081C36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132588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CD4"/>
                </a:solidFill>
              </a:rPr>
              <a:t>Response fields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8288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• summary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18288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AI one-paragraph incident summary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377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• probableRootCause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2377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Most likely cause with log 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• impactedService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29260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Service(s) affected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4747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• recommendedAction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34747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Suggested remediation steps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0233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• suspiciousLogs[]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40233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Specific log lines flagged by AI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5468112"/>
            <a:ext cx="11430000" cy="548640"/>
          </a:xfrm>
          <a:prstGeom prst="rect">
            <a:avLst/>
          </a:prstGeom>
          <a:solidFill>
            <a:srgbClr val="00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48640" y="5522976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BCD4"/>
                </a:solidFill>
              </a:rPr>
              <a:t>✅  Engineers investigate directly from ELK with AI analysis — no manual Kibana DSL, no file uploads, no waiting.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Existing Capability – Incident Knowledge Base &amp;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CD4"/>
                </a:solidFill>
              </a:rPr>
              <a:t>Every investigation makes future investigations faster and smarter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5394960" cy="4663440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CD4"/>
                </a:solidFill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10512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1.  Engineer stores incident via POST /api/logs/upload.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32304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2.  Core generates vector embeddings (Ollama or configured provider).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54096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3.  Embeddings + raw text stored in PostgreSQL with pgvector.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75888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4.  On next RCA request, Core runs cosine-similarity search.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97680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5.  Top-K similar past incidents returned as LLM context.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19472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6.  LLM uses historical context → higher-quality, grounded RCA.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234440"/>
            <a:ext cx="5760720" cy="4663440"/>
          </a:xfrm>
          <a:prstGeom prst="rect">
            <a:avLst/>
          </a:prstGeom>
          <a:solidFill>
            <a:srgbClr val="1024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AF50"/>
                </a:solidFill>
              </a:rPr>
              <a:t>Why This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8288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▶  Knowledge accumulation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194560"/>
            <a:ext cx="5486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Every incident stored → richer context → better RCAs automatically.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8346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▶  Onboarding acceleration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200400"/>
            <a:ext cx="5486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New engineers tap institutional knowledge without tribal reliance.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384048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▶  Hybrid search (roadmap)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206240"/>
            <a:ext cx="5486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BM25 keyword + vector similarity for higher recall.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84632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▶  Multi-tenant (roadmap)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5212080"/>
            <a:ext cx="5486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Separate stores per client/project for confidentiality.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6035040"/>
            <a:ext cx="11430000" cy="438912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6071616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CAF50"/>
                </a:solidFill>
              </a:rPr>
              <a:t>✅  SentinelAI becomes smarter with every incident.  This is a compounding competitive advantage.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Existing Capability – Pluggable AI Provider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CD4"/>
                </a:solidFill>
              </a:rPr>
              <a:t>Swap LLM providers with a single config change — no Core code changes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80160"/>
            <a:ext cx="2084831" cy="1600200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389888"/>
            <a:ext cx="181051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BCD4"/>
                </a:solidFill>
              </a:rPr>
              <a:t>Groq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828800"/>
            <a:ext cx="181051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BC9"/>
                </a:solidFill>
              </a:rPr>
              <a:t>Cloud inference
~3 s latency
Llama 3.3 70B
Default provider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87167" y="1280160"/>
            <a:ext cx="2084831" cy="1600200"/>
          </a:xfrm>
          <a:prstGeom prst="rect">
            <a:avLst/>
          </a:prstGeom>
          <a:solidFill>
            <a:srgbClr val="1024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24327" y="1389888"/>
            <a:ext cx="181051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4CAF50"/>
                </a:solidFill>
              </a:rPr>
              <a:t>Ollama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4327" y="1828800"/>
            <a:ext cx="181051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BC9"/>
                </a:solidFill>
              </a:rPr>
              <a:t>Fully local
Data residency
No API keys
Local dev &amp; PoC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0014" y="1280160"/>
            <a:ext cx="2084831" cy="1600200"/>
          </a:xfrm>
          <a:prstGeom prst="rect">
            <a:avLst/>
          </a:prstGeom>
          <a:solidFill>
            <a:srgbClr val="10243E"/>
          </a:solidFill>
          <a:ln w="1905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37174" y="1389888"/>
            <a:ext cx="181051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6ED6"/>
                </a:solidFill>
              </a:rPr>
              <a:t>OpenAI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37174" y="1828800"/>
            <a:ext cx="181051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BC9"/>
                </a:solidFill>
              </a:rPr>
              <a:t>GPT-4o / 4.1
Azure OpenAI
Enterprise grade
High accuracy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12861" y="1280160"/>
            <a:ext cx="2084831" cy="1600200"/>
          </a:xfrm>
          <a:prstGeom prst="rect">
            <a:avLst/>
          </a:prstGeom>
          <a:solidFill>
            <a:srgbClr val="10243E"/>
          </a:solidFill>
          <a:ln w="190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50021" y="1389888"/>
            <a:ext cx="181051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6D00"/>
                </a:solidFill>
              </a:rPr>
              <a:t>HuggingFace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0021" y="1828800"/>
            <a:ext cx="181051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BC9"/>
                </a:solidFill>
              </a:rPr>
              <a:t>Open-source
Custom fine-tunes
Research use
Cost-efficient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25708" y="1280160"/>
            <a:ext cx="2084831" cy="1600200"/>
          </a:xfrm>
          <a:prstGeom prst="rect">
            <a:avLst/>
          </a:prstGeom>
          <a:solidFill>
            <a:srgbClr val="10243E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62868" y="1389888"/>
            <a:ext cx="181051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7C4DFF"/>
                </a:solidFill>
              </a:rPr>
              <a:t>AWS Bedrock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68" y="1828800"/>
            <a:ext cx="181051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BC9"/>
                </a:solidFill>
              </a:rPr>
              <a:t>Claude / Titan
AWS-native
Enterprise security
Compliance ready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063240"/>
            <a:ext cx="11430000" cy="1298448"/>
          </a:xfrm>
          <a:prstGeom prst="rect">
            <a:avLst/>
          </a:prstGeom>
          <a:solidFill>
            <a:srgbClr val="04101F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31363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CD4"/>
                </a:solidFill>
              </a:rPr>
              <a:t>Configuration  (application.yaml)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493008"/>
            <a:ext cx="111556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CAF50"/>
                </a:solidFill>
              </a:rPr>
              <a:t>sentinelai.ai-engine.url:       http://localhost:8000/analyze
sentinelai.ai-engine.provider:  groq          # switch to 'ollama' for fully local
sentinelai.semantic-search.enabled: true       # enable RAG retrieval
sentinelai.elk.enabled:         true           # enable ELK investigation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26280"/>
            <a:ext cx="11430000" cy="1234440"/>
          </a:xfrm>
          <a:prstGeom prst="rect">
            <a:avLst/>
          </a:prstGeom>
          <a:solidFill>
            <a:srgbClr val="10243E"/>
          </a:solidFill>
          <a:ln w="1905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46177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Cost flexibility:  Groq for speed · Ollama for data-residency · Azure OpenAI for enterprise compliance.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0017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PoC readiness:  spin up with  docker compose  +  start-all.bat  and demo in under 5 minutes.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385816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Fully decoupled:  SentinelAI-Core is provider-agnostic.  Business logic never changes when you swap models.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Agentic AI — SentinelAI as an Autonomous SRE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CD4"/>
                </a:solidFill>
              </a:rPr>
              <a:t>Beyond RAG: a reasoning agent that plans, uses tools, and iterates until solved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0BBC9"/>
                </a:solidFill>
              </a:rPr>
              <a:t>Traditional RAG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2763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BBC9"/>
                </a:solidFill>
              </a:rPr>
              <a:t>Prompt → Single LLM call →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1664208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2344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CD4"/>
                </a:solidFill>
              </a:rPr>
              <a:t>Agentic approach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1627632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CD4"/>
                </a:solidFill>
              </a:rPr>
              <a:t>Think → Choose tool → Act → Observe → Think again → … → Answer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331720"/>
            <a:ext cx="3200400" cy="1298448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242316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CD4"/>
                </a:solidFill>
              </a:rPr>
              <a:t>🧠  Reason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825496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LLM analyses incident context,
tool results so far, working memory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331720"/>
            <a:ext cx="3200400" cy="1298448"/>
          </a:xfrm>
          <a:prstGeom prst="rect">
            <a:avLst/>
          </a:prstGeom>
          <a:solidFill>
            <a:srgbClr val="10243E"/>
          </a:solidFill>
          <a:ln w="190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34840" y="242316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D00"/>
                </a:solidFill>
              </a:rPr>
              <a:t>⚙️  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825496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Invoke a tool:
query_elk · check_kafka
get_deployment_history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2331720"/>
            <a:ext cx="3200400" cy="1298448"/>
          </a:xfrm>
          <a:prstGeom prst="rect">
            <a:avLst/>
          </a:prstGeom>
          <a:solidFill>
            <a:srgbClr val="1024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42316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CAF50"/>
                </a:solidFill>
              </a:rPr>
              <a:t>👁️  Observe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825496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Ingest tool output,
update shared working memory,
check goal met?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3977639"/>
            <a:ext cx="3200400" cy="1298448"/>
          </a:xfrm>
          <a:prstGeom prst="rect">
            <a:avLst/>
          </a:prstGeom>
          <a:solidFill>
            <a:srgbClr val="10243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34840" y="4069079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107"/>
                </a:solidFill>
              </a:rPr>
              <a:t>📋  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471415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Goal met → emit:
RCA · runbook · Jira ticket · Slack post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289864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89864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65760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↙  loop back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440680"/>
            <a:ext cx="11430000" cy="1005840"/>
          </a:xfrm>
          <a:prstGeom prst="rect">
            <a:avLst/>
          </a:prstGeom>
          <a:solidFill>
            <a:srgbClr val="1A0A40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550468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4DFF"/>
                </a:solidFill>
              </a:rPr>
              <a:t>🛠  Tool Registry — what the agent can call: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888736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AF50"/>
                </a:solidFill>
              </a:rPr>
              <a:t>query_elasticsearch()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5888736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AF50"/>
                </a:solidFill>
              </a:rPr>
              <a:t>query_kafka_lag()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5888736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AF50"/>
                </a:solidFill>
              </a:rPr>
              <a:t>get_deployment_history()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5888736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AF50"/>
                </a:solidFill>
              </a:rPr>
              <a:t>search_incident_kb()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272784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AF50"/>
                </a:solidFill>
              </a:rPr>
              <a:t>create_jira_ticket()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6272784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AF50"/>
                </a:solidFill>
              </a:rPr>
              <a:t>post_slack_alert()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6272784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AF50"/>
                </a:solidFill>
              </a:rPr>
              <a:t>generate_runbook()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6272784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AF50"/>
                </a:solidFill>
              </a:rPr>
              <a:t>check_slo_breach()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Agentic Orchestration — 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CD4"/>
                </a:solidFill>
              </a:rPr>
              <a:t>This is the non-trivial engineering — and we have already designed the foundation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11430000" cy="795528"/>
          </a:xfrm>
          <a:prstGeom prst="rect">
            <a:avLst/>
          </a:prstGeom>
          <a:solidFill>
            <a:srgbClr val="10243E"/>
          </a:solidFill>
          <a:ln w="19050">
            <a:solidFill>
              <a:srgbClr val="B0BB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0352" y="13441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0BBC9"/>
                </a:solidFill>
              </a:rPr>
              <a:t>Trigger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353312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Incoming alert  (Kafka / webhook)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1353312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Manual request from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353312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Scheduled anomaly scan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1353312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CI/CD deployment event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057400"/>
            <a:ext cx="4572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6ED6"/>
                </a:solidFill>
              </a:rPr>
              <a:t>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249424"/>
            <a:ext cx="11430000" cy="795528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0352" y="2331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CD4"/>
                </a:solidFill>
              </a:rPr>
              <a:t>Orchestration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340864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Agent Planner: decomposes goal into ordered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340864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Context Manager: maintains working memory across tool calls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2340864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Tool Dispatcher: routes plan steps to registered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340864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Reflection Module: evaluates intermediate results, replans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044952"/>
            <a:ext cx="4572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6ED6"/>
                </a:solidFill>
              </a:rPr>
              <a:t>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236976"/>
            <a:ext cx="11430000" cy="795528"/>
          </a:xfrm>
          <a:prstGeom prst="rect">
            <a:avLst/>
          </a:prstGeom>
          <a:solidFill>
            <a:srgbClr val="1024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30352" y="33192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CAF50"/>
                </a:solidFill>
              </a:rPr>
              <a:t>Tool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328416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ELK Query Engine  (Java ElkClient)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328416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Kafka Consumer &amp; Lag Checker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328416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Deployment History API  (CI/CD integration)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328416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Incident KB Search  (pgvector RAG)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4032504"/>
            <a:ext cx="4572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6ED6"/>
                </a:solidFill>
              </a:rPr>
              <a:t>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224528"/>
            <a:ext cx="11430000" cy="795528"/>
          </a:xfrm>
          <a:prstGeom prst="rect">
            <a:avLst/>
          </a:prstGeom>
          <a:solidFill>
            <a:srgbClr val="10243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0352" y="430682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Output Layer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4315968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Structured RCA  (JSON → UI)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315968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Runbook  (Markdown, human-reviewable)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4315968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Jira ticket + Slack alert  (automated)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4315968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BC9"/>
                </a:solidFill>
              </a:rPr>
              <a:t>• Full audit log of every agent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193792"/>
            <a:ext cx="11430000" cy="987552"/>
          </a:xfrm>
          <a:prstGeom prst="rect">
            <a:avLst/>
          </a:prstGeom>
          <a:solidFill>
            <a:srgbClr val="331500"/>
          </a:solidFill>
          <a:ln w="190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5266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D00"/>
                </a:solidFill>
              </a:rPr>
              <a:t>⚠️  Engineering challenges we are solving (this is why it is not trivial):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623560"/>
            <a:ext cx="3611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Context window management across many tool calls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79" y="5623560"/>
            <a:ext cx="3611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Parallel tool invocation without race conditions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18" y="5623560"/>
            <a:ext cx="3611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Prompt injection safety from log content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971032"/>
            <a:ext cx="3611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Hallucination guardrails &amp; self-consistency checks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79" y="5971032"/>
            <a:ext cx="3611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Cost &amp; latency budget enforcement per investigation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18" y="5971032"/>
            <a:ext cx="3611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Deterministic audit trail for enterprise compliance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How SentinelAI Helps 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CD4"/>
                </a:solidFill>
              </a:rPr>
              <a:t>Internal productivity · Client differentiation · Capability building · Revenue potential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5376672" cy="2212848"/>
          </a:xfrm>
          <a:prstGeom prst="rect">
            <a:avLst/>
          </a:prstGeom>
          <a:solidFill>
            <a:srgbClr val="10243E"/>
          </a:solidFill>
          <a:ln w="1905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1023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ED6"/>
                </a:solidFill>
              </a:rPr>
              <a:t>🏃  Internal Productivity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28216"/>
            <a:ext cx="5102352" cy="36576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801368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Faster log-based investigation &amp; RCA for our own managed services.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94560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Reduces on-call burden — SentinelAI handles first-pass triage.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587752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Consistent RCA quality regardless of engineer seniority.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80944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AI-generated runbooks reduce knowledge silos.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376672" cy="2212848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63640" y="1325880"/>
            <a:ext cx="51023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CD4"/>
                </a:solidFill>
              </a:rPr>
              <a:t>💼  Client Value &amp; Differentiation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728216"/>
            <a:ext cx="5102352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9360" y="1801368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Tangible GenAI capability on top of existing ELK/Kafka/cloud-native stacks.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194560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Demo-ready in &lt; 5 min — ideal for client workshops and proposal stages.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587752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Differentiates Atos bids vs. generic managed-service offers.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980944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Reference solution for SRE, observability and operations deals.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703320"/>
            <a:ext cx="5376672" cy="2212848"/>
          </a:xfrm>
          <a:prstGeom prst="rect">
            <a:avLst/>
          </a:prstGeom>
          <a:solidFill>
            <a:srgbClr val="1024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794760"/>
            <a:ext cx="51023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CAF50"/>
                </a:solidFill>
              </a:rPr>
              <a:t>🎓  Talent &amp; Capability Building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197096"/>
            <a:ext cx="5102352" cy="36576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4270248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Builds applied GenAI expertise: RAG, agents, LLMOps, vector databases.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663440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Hands-on experience with Groq, Ollama, pgvector, FastAPI.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056632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Aligns with market direction — observability + AI is a key battleground.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449824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Internal PoC → conference talk / blog → employer-brand boost.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3703320"/>
            <a:ext cx="5376672" cy="2212848"/>
          </a:xfrm>
          <a:prstGeom prst="rect">
            <a:avLst/>
          </a:prstGeom>
          <a:solidFill>
            <a:srgbClr val="10243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63640" y="3794760"/>
            <a:ext cx="51023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🚀  Foundation for Products &amp; Offers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197096"/>
            <a:ext cx="5102352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09360" y="4270248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Can evolve into a reusable Atos accelerator for incident management.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663440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Applicable across verticals: finance, retail, connected vehicle, public sector.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5056632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Foundation for AI-SRE-as-a-service offering.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5449824"/>
            <a:ext cx="5010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Aligns with Atos OneCloud and Digital Workplace strategic themes.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Roadmap — P1 Enhancements  (Next 6–12 Months)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CD4"/>
                </a:solidFill>
              </a:rPr>
              <a:t>Three capabilities that turn SentinelAI into a core engineering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11430000" cy="1481328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4572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CD4"/>
                </a:solidFill>
              </a:rPr>
              <a:t>🔤  Natural Language Operational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55647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Engineer types plain English: "show payment failures after the latest deployment".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755647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SentinelAI converts request → ELK BoolQuery → fetches logs → returns AI summary.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85415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No Kibana DSL knowledge required — accelerates ad-hoc investigation for all engineers.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185415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Impact: democratises log investigation; reduces mean-time-to-understand by ~10×.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862072"/>
            <a:ext cx="11430000" cy="1481328"/>
          </a:xfrm>
          <a:prstGeom prst="rect">
            <a:avLst/>
          </a:prstGeom>
          <a:solidFill>
            <a:srgbClr val="10243E"/>
          </a:solidFill>
          <a:ln w="190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2953512"/>
            <a:ext cx="4572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D00"/>
                </a:solidFill>
              </a:rPr>
              <a:t>🔗  Incident Correlation &amp; Investigation Timeline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83279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Automatically correlates signals:  deployment → Kafka lag → DB timeout → customer errors.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383279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Builds a single investigation timeline across all systems and services.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13047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Presents one consolidated summary instead of N separate ELK/Kafka/APM queries.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813047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Impact: reduces MTTR for complex multi-system failures — the hardest class of incidents.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489704"/>
            <a:ext cx="11430000" cy="1481328"/>
          </a:xfrm>
          <a:prstGeom prst="rect">
            <a:avLst/>
          </a:prstGeom>
          <a:solidFill>
            <a:srgbClr val="1024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581144"/>
            <a:ext cx="4572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CAF50"/>
                </a:solidFill>
              </a:rPr>
              <a:t>📊  Deployment Regression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10911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Compares error patterns before vs. after each deployment automatically.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010911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Highlights likely regressions and risky code-change fingerprints.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440679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Integrates with CI/CD pipeline for pre-release safety gates.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5440679"/>
            <a:ext cx="5440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Impact: safer, faster releases — especially critical in microservices-heavy environments.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Roadmap — P2 Enhancements  (Beyond 12 Months)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CD4"/>
                </a:solidFill>
              </a:rPr>
              <a:t>Real-time AI monitoring · ITSM automation · Enterprise readiness · LLMOps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11430000" cy="1261872"/>
          </a:xfrm>
          <a:prstGeom prst="rect">
            <a:avLst/>
          </a:prstGeom>
          <a:solidFill>
            <a:srgbClr val="10243E"/>
          </a:solidFill>
          <a:ln w="1905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30759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ED6"/>
                </a:solidFill>
              </a:rPr>
              <a:t>⚡  Real-Time ELK/Kafka Monitoring with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Continuously scans log streams and Kafka topics for anomalies.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719072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Groups related anomalies into incident candidates automatically.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0312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Triggers AI investigation without any human initiation.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10312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Shifts Atos from reactive response to proactive, AI-driven triage.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606040"/>
            <a:ext cx="11430000" cy="1261872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267919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CD4"/>
                </a:solidFill>
              </a:rPr>
              <a:t>🤖  Jira + Slack / Teams 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90672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One-click creation of Jira tickets with AI-generated RCA, impact and recommended fix.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090672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Auto-posts AI investigation summaries into Slack/Teams channels during incidents.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7472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Integrates into existing on-call workflows — zero context switching for engineers.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47472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Reduces documentation burden and accelerates stakeholder communication.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977640"/>
            <a:ext cx="11430000" cy="1261872"/>
          </a:xfrm>
          <a:prstGeom prst="rect">
            <a:avLst/>
          </a:prstGeom>
          <a:solidFill>
            <a:srgbClr val="10243E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05079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4DFF"/>
                </a:solidFill>
              </a:rPr>
              <a:t>🏢  Enterprise Readiness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462272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SSO via OIDC, RBAC for multi-team access control.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462272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Audit logging of every AI action and tool call for compliance.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4632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Multi-tenant configuration for client isolation.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484632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Packaging as a reusable, marketable Atos accelerator.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349240"/>
            <a:ext cx="11430000" cy="1261872"/>
          </a:xfrm>
          <a:prstGeom prst="rect">
            <a:avLst/>
          </a:prstGeom>
          <a:solidFill>
            <a:srgbClr val="10243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542239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🔬  LLMOps &amp; Continuous Improvement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833872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Thumbs-up/down feedback loop on RCA quality — closes the learning loop.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5833872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Latency / cost / accuracy dashboards per provider and per incident type.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21792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A/B testing of prompt strategies and model versions.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621792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BC9"/>
                </a:solidFill>
              </a:rPr>
              <a:t>• Optional fine-tuning on Atos-internal incident corpus.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Future Vision — Enterprise AI SRE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CD4"/>
                </a:solidFill>
              </a:rPr>
              <a:t>SentinelAI as the central AI brain for production operations across Atos clients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07008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CD4"/>
                </a:solidFill>
              </a:rPr>
              <a:t>The on-call experience in 2027 — with SentinelAI fully realised: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91640"/>
            <a:ext cx="1755648" cy="1737360"/>
          </a:xfrm>
          <a:prstGeom prst="rect">
            <a:avLst/>
          </a:prstGeom>
          <a:solidFill>
            <a:srgbClr val="10243E"/>
          </a:solidFill>
          <a:ln w="19050">
            <a:solidFill>
              <a:srgbClr val="006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9768" y="1801368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6ED6"/>
                </a:solidFill>
              </a:rPr>
              <a:t>🚨
Alert fires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468880"/>
            <a:ext cx="153619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BC9"/>
                </a:solidFill>
              </a:rPr>
              <a:t>PagerDuty/alerting
triggers.  Agent
receives context.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12264" y="2423160"/>
            <a:ext cx="1463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80" y="1691640"/>
            <a:ext cx="1755648" cy="1737360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50008" y="1801368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BCD4"/>
                </a:solidFill>
              </a:rPr>
              <a:t>🧠
Agent reasons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0008" y="2468880"/>
            <a:ext cx="153619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BC9"/>
                </a:solidFill>
              </a:rPr>
              <a:t>Understands goal:
'investigate payment
service degradation'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32504" y="2423160"/>
            <a:ext cx="1463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60520" y="1691640"/>
            <a:ext cx="1755648" cy="1737360"/>
          </a:xfrm>
          <a:prstGeom prst="rect">
            <a:avLst/>
          </a:prstGeom>
          <a:solidFill>
            <a:srgbClr val="1024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70248" y="1801368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CAF50"/>
                </a:solidFill>
              </a:rPr>
              <a:t>🔍
Agent queries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8" y="2468880"/>
            <a:ext cx="153619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BC9"/>
                </a:solidFill>
              </a:rPr>
              <a:t>Calls ELK · Kafka
deployment history
incident KB — all auto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2744" y="2423160"/>
            <a:ext cx="1463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1691640"/>
            <a:ext cx="1755648" cy="1737360"/>
          </a:xfrm>
          <a:prstGeom prst="rect">
            <a:avLst/>
          </a:prstGeom>
          <a:solidFill>
            <a:srgbClr val="10243E"/>
          </a:solidFill>
          <a:ln w="190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90488" y="1801368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6D00"/>
                </a:solidFill>
              </a:rPr>
              <a:t>🔗
Agent correlates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2468880"/>
            <a:ext cx="153619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BC9"/>
                </a:solidFill>
              </a:rPr>
              <a:t>Links deploy v2.3.1
to error spike 18 min
later via timeline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72984" y="2423160"/>
            <a:ext cx="1463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01000" y="1691640"/>
            <a:ext cx="1755648" cy="1737360"/>
          </a:xfrm>
          <a:prstGeom prst="rect">
            <a:avLst/>
          </a:prstGeom>
          <a:solidFill>
            <a:srgbClr val="10243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10728" y="1801368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C107"/>
                </a:solidFill>
              </a:rPr>
              <a:t>📝
Agent drafts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10728" y="2468880"/>
            <a:ext cx="153619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BC9"/>
                </a:solidFill>
              </a:rPr>
              <a:t>Prepares RCA,
runbook + Jira
ticket draft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93224" y="2423160"/>
            <a:ext cx="1463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6ED6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21240" y="1691640"/>
            <a:ext cx="1755648" cy="1737360"/>
          </a:xfrm>
          <a:prstGeom prst="rect">
            <a:avLst/>
          </a:prstGeom>
          <a:solidFill>
            <a:srgbClr val="10243E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030968" y="1801368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7C4DFF"/>
                </a:solidFill>
              </a:rPr>
              <a:t>✅
Human approves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2468880"/>
            <a:ext cx="153619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BC9"/>
                </a:solidFill>
              </a:rPr>
              <a:t>On-call reviews
in &lt; 2 min and
resolves incident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657600"/>
            <a:ext cx="11430000" cy="1325880"/>
          </a:xfrm>
          <a:prstGeom prst="rect">
            <a:avLst/>
          </a:prstGeom>
          <a:solidFill>
            <a:srgbClr val="1A0A40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37307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4DFF"/>
                </a:solidFill>
              </a:rPr>
              <a:t>Capability readiness: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11480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CAF50"/>
                </a:solidFill>
              </a:rPr>
              <a:t>• Multi-step ReAct loop  [✅ designed]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79" y="411480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CAF50"/>
                </a:solidFill>
              </a:rPr>
              <a:t>• Tool registry  [✅ designed]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18" y="411480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CAF50"/>
                </a:solidFill>
              </a:rPr>
              <a:t>• ElkClient + RAG  [✅ built]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49884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6D00"/>
                </a:solidFill>
              </a:rPr>
              <a:t>• Kafka triggers  [P2 roadmap]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79" y="449884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6D00"/>
                </a:solidFill>
              </a:rPr>
              <a:t>• OIDC / RBAC  [P2 roadmap]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18" y="449884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6D00"/>
                </a:solidFill>
              </a:rPr>
              <a:t>• Feedback / LLMOps  [P2 roadmap]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016752"/>
            <a:ext cx="12188952" cy="713232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6053328"/>
            <a:ext cx="11247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The components are either built or clearly designed.  SentinelAI is not a demo — it is a foundation.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Next Steps &amp; Ask from Atos Stakeholders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BC9"/>
                </a:solidFill>
              </a:rPr>
              <a:t>SentinelAI  |  Atos Confidential  | 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11430000" cy="1298448"/>
          </a:xfrm>
          <a:prstGeom prst="rect">
            <a:avLst/>
          </a:prstGeom>
          <a:solidFill>
            <a:srgbClr val="10243E"/>
          </a:solidFill>
          <a:ln w="190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CD4"/>
                </a:solidFill>
              </a:rPr>
              <a:t>🎯  Identify a Pilot Environment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1325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Pick one service/domain:  payments · invoicing · connected vehicle · cloud ops.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1719072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One SRE / on-call team willing to co-innovate and provide real incident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2112264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Define a small but realistic incident investigation scenario as the testbed.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24328"/>
            <a:ext cx="11430000" cy="1298448"/>
          </a:xfrm>
          <a:prstGeom prst="rect">
            <a:avLst/>
          </a:prstGeom>
          <a:solidFill>
            <a:srgbClr val="10243E"/>
          </a:solidFill>
          <a:ln w="190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71576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D00"/>
                </a:solidFill>
              </a:rPr>
              <a:t>⚙️  Prioritise P1 Features Together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715768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Decide which to implement first based on client/internal needs: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310896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  →  Natural language operational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39" y="3502152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  →  Incident correlation &amp; investigation timeline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39" y="3895344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BC9"/>
                </a:solidFill>
              </a:rPr>
              <a:t>  →  Deployment regression detection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14216"/>
            <a:ext cx="11430000" cy="1298448"/>
          </a:xfrm>
          <a:prstGeom prst="rect">
            <a:avLst/>
          </a:prstGeom>
          <a:solidFill>
            <a:srgbClr val="1024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410565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CAF50"/>
                </a:solidFill>
              </a:rPr>
              <a:t>🤝  Support &amp; Sponsorship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105656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Allocate time to harden and extend SentinelAI alongside project work.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4498848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Access to a real ELK / Kafka environment for integration and performance testing.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4892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Optionally position SentinelAI as an Atos AI accelerator for SRE and observability deals.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404104"/>
            <a:ext cx="11430000" cy="1298448"/>
          </a:xfrm>
          <a:prstGeom prst="rect">
            <a:avLst/>
          </a:prstGeom>
          <a:solidFill>
            <a:srgbClr val="10243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5495544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107"/>
                </a:solidFill>
              </a:rPr>
              <a:t>📣  Amplify Externally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495544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Write a short case-study / blog post on the architecture and measurable impact.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5888736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Submit to Atos internal tech-talk / innovation showcase session.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6281928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Target a conference paper or demo (QCon, Devoxx, AWS re:Invent) in 2026–2027.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6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0" y="2578608"/>
            <a:ext cx="7040880" cy="6400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724912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00BCD4"/>
                </a:solidFill>
              </a:rPr>
              <a:t>SentinelAI  —  AI-Assisted Incident Investigation &amp; RCA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93008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Praveen Kumar Deshmukh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05072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BBC9"/>
                </a:solidFill>
              </a:rPr>
              <a:t>Principal Software Engineer &amp; Architect  |  Atos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828032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00BCD4"/>
                </a:solidFill>
              </a:rPr>
              <a:t>Questions?  Let's talk about making SentinelAI real for Atos.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BC9"/>
                </a:solidFill>
              </a:rPr>
              <a:t>SentinelAI Monorepo  |  Atos Confidential  |  May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2820</Words>
  <Application>Microsoft Office PowerPoint</Application>
  <PresentationFormat>Custom</PresentationFormat>
  <Paragraphs>343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Praveen Deshmukh</cp:lastModifiedBy>
  <cp:revision>1</cp:revision>
  <dcterms:created xsi:type="dcterms:W3CDTF">2013-01-27T09:14:16Z</dcterms:created>
  <dcterms:modified xsi:type="dcterms:W3CDTF">2026-05-13T14:23:36Z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463cba9-5f6c-478d-9329-7b2295e4e8ed_Enabled">
    <vt:lpwstr>true</vt:lpwstr>
  </property>
  <property fmtid="{D5CDD505-2E9C-101B-9397-08002B2CF9AE}" pid="3" name="MSIP_Label_e463cba9-5f6c-478d-9329-7b2295e4e8ed_SetDate">
    <vt:lpwstr>2026-05-13T14:23:36Z</vt:lpwstr>
  </property>
  <property fmtid="{D5CDD505-2E9C-101B-9397-08002B2CF9AE}" pid="4" name="MSIP_Label_e463cba9-5f6c-478d-9329-7b2295e4e8ed_Method">
    <vt:lpwstr>Standard</vt:lpwstr>
  </property>
  <property fmtid="{D5CDD505-2E9C-101B-9397-08002B2CF9AE}" pid="5" name="MSIP_Label_e463cba9-5f6c-478d-9329-7b2295e4e8ed_Name">
    <vt:lpwstr>All Employees_2</vt:lpwstr>
  </property>
  <property fmtid="{D5CDD505-2E9C-101B-9397-08002B2CF9AE}" pid="6" name="MSIP_Label_e463cba9-5f6c-478d-9329-7b2295e4e8ed_SiteId">
    <vt:lpwstr>33440fc6-b7c7-412c-bb73-0e70b0198d5a</vt:lpwstr>
  </property>
  <property fmtid="{D5CDD505-2E9C-101B-9397-08002B2CF9AE}" pid="7" name="MSIP_Label_e463cba9-5f6c-478d-9329-7b2295e4e8ed_ActionId">
    <vt:lpwstr>deeaf11e-2777-4d1b-92e7-5f62c2df66d6</vt:lpwstr>
  </property>
  <property fmtid="{D5CDD505-2E9C-101B-9397-08002B2CF9AE}" pid="8" name="MSIP_Label_e463cba9-5f6c-478d-9329-7b2295e4e8ed_ContentBits">
    <vt:lpwstr>0</vt:lpwstr>
  </property>
  <property fmtid="{D5CDD505-2E9C-101B-9397-08002B2CF9AE}" pid="9" name="MSIP_Label_e463cba9-5f6c-478d-9329-7b2295e4e8ed_Tag">
    <vt:lpwstr>10, 3, 0, 1</vt:lpwstr>
  </property>
</Properties>
</file>